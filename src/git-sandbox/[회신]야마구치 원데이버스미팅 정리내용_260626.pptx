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75" d="100"/>
          <a:sy n="75" d="100"/>
        </p:scale>
        <p:origin x="1950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059BC-57AA-4C9A-8615-D2E8374AC743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EA5CB-65FD-497C-8AAD-7F91F4008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253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EA5CB-65FD-497C-8AAD-7F91F40084C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976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90643-3FA2-745D-6154-3A8FE23B0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86A383-5756-0FB3-7EA9-78108A1CA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70A89F-7E0C-46FD-3121-573C9BF5E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7E1A-ED44-40C4-8AC4-B8D810BB9F1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8ED9C4-999B-6376-C756-2F05676AA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4BEACF-7E8F-73DD-C68B-823589A5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E3C2-566A-4018-BAEE-BA186D71D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631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27A02D-BD05-3849-6F1F-B110A97DB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FB9557-E927-7393-6234-CA56F968E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25861-620E-DBFD-038F-E4056EADB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7E1A-ED44-40C4-8AC4-B8D810BB9F1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5B6452-4E56-AD20-55C7-05A01F339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BCB78B-9474-8209-B3DB-AAB3CDE45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E3C2-566A-4018-BAEE-BA186D71D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722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269D3A-63CD-8F3D-869F-9A6DA472F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AC4BC9-F021-167B-BD13-87F83642E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277685-C7F1-BB96-5C7F-F145DDE77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7E1A-ED44-40C4-8AC4-B8D810BB9F1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E9A716-B148-739F-C82C-E694938D5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8EC787-2273-6797-553A-6235874D3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E3C2-566A-4018-BAEE-BA186D71D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308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677B6-CAA4-E0E2-7C8D-F920AFCDA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EED5BA-1769-FBA9-2A85-68E9318EC7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EC8A4E-5FA7-2015-1FE7-4C331562C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D2C1F5-40A9-029A-9C41-A8A997A1D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7E1A-ED44-40C4-8AC4-B8D810BB9F1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4C9B18-F7C8-3F01-B8B4-BD4BCE90E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F9721E-8C2F-55D7-9653-A7DC8890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E3C2-566A-4018-BAEE-BA186D71D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0030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2A9A23-EE9C-FBE4-A146-CEFF87FC4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3815A0-C68E-14EB-758B-B1531EA65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91B01D-A05A-799B-8D56-7368342EF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72E3590-AFF3-B33B-0097-F6C78A03D0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1A2AE24-B469-5AF6-396B-BF6E3C8F31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C2110D5-64BD-0544-CD81-F5E85D0E5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7E1A-ED44-40C4-8AC4-B8D810BB9F1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DE757ED-C2E1-DE54-8CBA-9526C3D7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79A75C4-7CF6-F6CD-6E17-EB58E1564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E3C2-566A-4018-BAEE-BA186D71D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963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DD8E53-E6FE-0EE2-9AEB-2535B1600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642F0D-A67A-11BA-51E4-8A37E8658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7E1A-ED44-40C4-8AC4-B8D810BB9F1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A1CF34B-B1E9-AD18-28A6-400D3C37A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9EF7FF-7F74-BE67-1DDF-4AB770B42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E3C2-566A-4018-BAEE-BA186D71D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702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7A9DB4C-06F7-E896-8E01-DBD915292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7E1A-ED44-40C4-8AC4-B8D810BB9F1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8E684A2-2C41-70A1-ED31-0C40083F0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7B7D7E-2C66-C681-36DC-4B322695D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E3C2-566A-4018-BAEE-BA186D71D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469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C638E-E4D1-AFA8-0657-BDE34D5BC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C1349-B757-3FC0-CB7C-77CF0397C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61ADB6-04C5-BBE9-104B-4874D25C3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56F719-872A-4658-6410-89DEDE60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7E1A-ED44-40C4-8AC4-B8D810BB9F1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99708F-2676-5A6A-3A8C-CA2BA80A4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CBE63B-71FD-7D54-06D7-AB4015BAA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E3C2-566A-4018-BAEE-BA186D71D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6806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BDD965-BF57-3E73-D1F2-936B32F3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7B08A77-8E75-2C09-B1EE-6AE32DF4E0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906859-66CF-7B4D-12C9-8D6F8381D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1A30AC-4598-CC54-57AE-66871957D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7E1A-ED44-40C4-8AC4-B8D810BB9F1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40977C-D034-3236-BF6D-E7663DEF1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F779F5-DBD1-423E-A47B-DEFC18BAB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E3C2-566A-4018-BAEE-BA186D71D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888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3FC07E-F667-EA30-707D-956AE5605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22B30F-A496-58E8-14DA-92D683A33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7FD9B4-2F30-ECD2-8093-D37272706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7E1A-ED44-40C4-8AC4-B8D810BB9F1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342D71-9A94-DB3C-1642-698ED8ECD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F2A3A0-E4C8-E6EC-F39E-CBA56EAA1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E3C2-566A-4018-BAEE-BA186D71D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582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7D244B-6C18-AC14-AAE8-512CC5533D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44AD28-6535-6DC3-E206-478702640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962DB2-8148-F706-8F38-12B075AE6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7E1A-ED44-40C4-8AC4-B8D810BB9F1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912A78-84CD-D3D2-4037-02A7D1EF9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C5F310-7284-701E-AEB3-607538A7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E3C2-566A-4018-BAEE-BA186D71D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51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108E5A-1071-4F8A-6513-985F9A1D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551450-A7DE-0740-543B-3511DBDD9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E7A077-12FB-EBF0-33A0-14FA8D827A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AB7E1A-ED44-40C4-8AC4-B8D810BB9F1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C956CA-E94F-BEE3-2ECD-61AC69053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2C872-DE0D-13F5-37FA-EA74492DB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5E3C2-566A-4018-BAEE-BA186D71D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44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2A122-4E46-4FF5-43D0-904FA03CA9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4800" dirty="0"/>
              <a:t>야마구치 </a:t>
            </a:r>
            <a:r>
              <a:rPr lang="ko-KR" altLang="en-US" sz="4800" dirty="0" err="1"/>
              <a:t>원데이버스</a:t>
            </a:r>
            <a:br>
              <a:rPr lang="en-US" altLang="ko-KR" sz="4800" dirty="0"/>
            </a:br>
            <a:r>
              <a:rPr lang="ko-KR" altLang="en-US" sz="4800" dirty="0"/>
              <a:t>홈페이지 진행미팅 정리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8EC1BAA-2C58-393A-B233-183A33218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0381"/>
            <a:ext cx="9144000" cy="1655762"/>
          </a:xfrm>
        </p:spPr>
        <p:txBody>
          <a:bodyPr anchor="ctr"/>
          <a:lstStyle/>
          <a:p>
            <a:r>
              <a:rPr lang="en-US" altLang="ko-KR" dirty="0"/>
              <a:t>2026.06.25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6405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4DB2200-DCEC-473C-4086-B02D7D00322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729" y="0"/>
            <a:ext cx="839219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34FDEE-60C4-C316-9570-2E7739106B33}"/>
              </a:ext>
            </a:extLst>
          </p:cNvPr>
          <p:cNvSpPr txBox="1"/>
          <p:nvPr/>
        </p:nvSpPr>
        <p:spPr>
          <a:xfrm>
            <a:off x="227390" y="177373"/>
            <a:ext cx="2985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00. </a:t>
            </a:r>
            <a:r>
              <a:rPr lang="ko-KR" altLang="en-US" sz="2000" b="1" dirty="0"/>
              <a:t>메인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63C7183-1F8F-6D4F-89B2-270703D4E7D3}"/>
              </a:ext>
            </a:extLst>
          </p:cNvPr>
          <p:cNvSpPr/>
          <p:nvPr/>
        </p:nvSpPr>
        <p:spPr>
          <a:xfrm>
            <a:off x="5675086" y="1640114"/>
            <a:ext cx="2772228" cy="6192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BA3F6C3-C32F-D578-6D74-3006E1891849}"/>
              </a:ext>
            </a:extLst>
          </p:cNvPr>
          <p:cNvSpPr/>
          <p:nvPr/>
        </p:nvSpPr>
        <p:spPr>
          <a:xfrm>
            <a:off x="5505752" y="3497942"/>
            <a:ext cx="1983619" cy="343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5D9CD7-C56A-8328-4979-212F7B993628}"/>
              </a:ext>
            </a:extLst>
          </p:cNvPr>
          <p:cNvSpPr/>
          <p:nvPr/>
        </p:nvSpPr>
        <p:spPr>
          <a:xfrm>
            <a:off x="7489371" y="2825447"/>
            <a:ext cx="2907696" cy="13498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3788086-8DB2-8C34-6F32-E146C3A6E36D}"/>
              </a:ext>
            </a:extLst>
          </p:cNvPr>
          <p:cNvSpPr/>
          <p:nvPr/>
        </p:nvSpPr>
        <p:spPr>
          <a:xfrm>
            <a:off x="5442857" y="4405084"/>
            <a:ext cx="2510972" cy="13498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BD96A1C-BAE9-ABEC-1BDC-AF3271FB42C4}"/>
              </a:ext>
            </a:extLst>
          </p:cNvPr>
          <p:cNvSpPr/>
          <p:nvPr/>
        </p:nvSpPr>
        <p:spPr>
          <a:xfrm>
            <a:off x="7455505" y="6134704"/>
            <a:ext cx="1683658" cy="343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4D7E8C4-46FD-C1FC-7647-9BF840D7EBF7}"/>
              </a:ext>
            </a:extLst>
          </p:cNvPr>
          <p:cNvSpPr/>
          <p:nvPr/>
        </p:nvSpPr>
        <p:spPr>
          <a:xfrm>
            <a:off x="5442857" y="6134704"/>
            <a:ext cx="716038" cy="2370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373C281-9DCA-962D-4C92-1BAA8CAC67F8}"/>
              </a:ext>
            </a:extLst>
          </p:cNvPr>
          <p:cNvCxnSpPr>
            <a:cxnSpLocks/>
          </p:cNvCxnSpPr>
          <p:nvPr/>
        </p:nvCxnSpPr>
        <p:spPr>
          <a:xfrm>
            <a:off x="3633410" y="1816035"/>
            <a:ext cx="2041676" cy="230479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EA61B3B-9A92-0429-FE8E-67A8E989A34D}"/>
              </a:ext>
            </a:extLst>
          </p:cNvPr>
          <p:cNvCxnSpPr>
            <a:cxnSpLocks/>
          </p:cNvCxnSpPr>
          <p:nvPr/>
        </p:nvCxnSpPr>
        <p:spPr>
          <a:xfrm>
            <a:off x="3677688" y="1816035"/>
            <a:ext cx="1876446" cy="1715774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191696A-27F5-6E35-131E-3033D0CC2635}"/>
              </a:ext>
            </a:extLst>
          </p:cNvPr>
          <p:cNvSpPr txBox="1"/>
          <p:nvPr/>
        </p:nvSpPr>
        <p:spPr>
          <a:xfrm>
            <a:off x="424281" y="1422606"/>
            <a:ext cx="36527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highlight>
                  <a:srgbClr val="FFFF00"/>
                </a:highlight>
              </a:rPr>
              <a:t>1)</a:t>
            </a:r>
            <a:r>
              <a:rPr lang="ko-KR" altLang="en-US" sz="1600" dirty="0">
                <a:highlight>
                  <a:srgbClr val="FFFF00"/>
                </a:highlight>
              </a:rPr>
              <a:t>코스구성</a:t>
            </a:r>
            <a:r>
              <a:rPr lang="en-US" altLang="ko-KR" sz="1600" dirty="0">
                <a:highlight>
                  <a:srgbClr val="FFFF00"/>
                </a:highlight>
              </a:rPr>
              <a:t> </a:t>
            </a:r>
            <a:r>
              <a:rPr lang="ko-KR" altLang="en-US" sz="1600" dirty="0">
                <a:highlight>
                  <a:srgbClr val="FFFF00"/>
                </a:highlight>
              </a:rPr>
              <a:t>정보 요청</a:t>
            </a:r>
            <a:r>
              <a:rPr lang="en-US" altLang="ko-KR" sz="1600" dirty="0">
                <a:highlight>
                  <a:srgbClr val="FFFF00"/>
                </a:highlight>
              </a:rPr>
              <a:t>-&gt;</a:t>
            </a:r>
            <a:r>
              <a:rPr lang="ko-KR" altLang="en-US" sz="1600" dirty="0">
                <a:highlight>
                  <a:srgbClr val="FFFF00"/>
                </a:highlight>
              </a:rPr>
              <a:t>석과장님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8AF4F1-5475-5A3A-A9A4-C976D94117B8}"/>
              </a:ext>
            </a:extLst>
          </p:cNvPr>
          <p:cNvSpPr txBox="1"/>
          <p:nvPr/>
        </p:nvSpPr>
        <p:spPr>
          <a:xfrm>
            <a:off x="10452705" y="2789944"/>
            <a:ext cx="1313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2</a:t>
            </a:r>
            <a:r>
              <a:rPr lang="en-US" altLang="ko-KR" sz="1600"/>
              <a:t>)</a:t>
            </a:r>
            <a:r>
              <a:rPr lang="ko-KR" altLang="en-US" sz="1600"/>
              <a:t>사진교체</a:t>
            </a:r>
            <a:endParaRPr lang="en-US" altLang="ko-KR" sz="16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E303E1-9F4E-1121-61AA-B93E1EA39F08}"/>
              </a:ext>
            </a:extLst>
          </p:cNvPr>
          <p:cNvSpPr txBox="1"/>
          <p:nvPr/>
        </p:nvSpPr>
        <p:spPr>
          <a:xfrm>
            <a:off x="2399696" y="4405084"/>
            <a:ext cx="2922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3)</a:t>
            </a:r>
            <a:r>
              <a:rPr lang="ko-KR" altLang="en-US" sz="1600" dirty="0" err="1"/>
              <a:t>클릭시</a:t>
            </a:r>
            <a:r>
              <a:rPr lang="en-US" altLang="ko-KR" sz="1600" dirty="0"/>
              <a:t>-</a:t>
            </a:r>
            <a:r>
              <a:rPr lang="ko-KR" altLang="en-US" sz="1600" dirty="0" err="1"/>
              <a:t>야마구치현</a:t>
            </a:r>
            <a:r>
              <a:rPr lang="ko-KR" altLang="en-US" sz="1600" dirty="0"/>
              <a:t> 한국 홈페이지로 링크연결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EE71AD-90BC-8CE6-C1CE-99EBCA01A755}"/>
              </a:ext>
            </a:extLst>
          </p:cNvPr>
          <p:cNvSpPr txBox="1"/>
          <p:nvPr/>
        </p:nvSpPr>
        <p:spPr>
          <a:xfrm>
            <a:off x="2399696" y="5916545"/>
            <a:ext cx="2922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4)</a:t>
            </a:r>
            <a:r>
              <a:rPr lang="ko-KR" altLang="en-US" sz="1600" dirty="0" err="1"/>
              <a:t>클릭시</a:t>
            </a:r>
            <a:r>
              <a:rPr lang="en-US" altLang="ko-KR" sz="1600" dirty="0"/>
              <a:t>-</a:t>
            </a:r>
            <a:r>
              <a:rPr lang="ko-KR" altLang="en-US" sz="1600" dirty="0" err="1"/>
              <a:t>부관훼리</a:t>
            </a:r>
            <a:r>
              <a:rPr lang="ko-KR" altLang="en-US" sz="1600" dirty="0"/>
              <a:t> 한국 홈페이지로 링크연결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0544B9-20C2-A7C1-D4ED-312883D179C8}"/>
              </a:ext>
            </a:extLst>
          </p:cNvPr>
          <p:cNvSpPr txBox="1"/>
          <p:nvPr/>
        </p:nvSpPr>
        <p:spPr>
          <a:xfrm>
            <a:off x="9183440" y="6153611"/>
            <a:ext cx="29222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5)</a:t>
            </a:r>
            <a:r>
              <a:rPr lang="ko-KR" altLang="en-US" sz="1600" dirty="0"/>
              <a:t>주소지 수정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E745CA-735C-856C-23C7-56C1C202B348}"/>
              </a:ext>
            </a:extLst>
          </p:cNvPr>
          <p:cNvSpPr txBox="1"/>
          <p:nvPr/>
        </p:nvSpPr>
        <p:spPr>
          <a:xfrm>
            <a:off x="1000228" y="3646119"/>
            <a:ext cx="3568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6)</a:t>
            </a:r>
            <a:r>
              <a:rPr lang="ko-KR" altLang="en-US" sz="1600" dirty="0"/>
              <a:t>요일 대신 성인 유아로 수정</a:t>
            </a:r>
            <a:endParaRPr lang="en-US" altLang="ko-KR" sz="1600" dirty="0"/>
          </a:p>
          <a:p>
            <a:r>
              <a:rPr lang="en-US" altLang="ko-KR" sz="1600" dirty="0"/>
              <a:t>Ex.</a:t>
            </a:r>
            <a:r>
              <a:rPr lang="ko-KR" altLang="en-US" sz="1600" dirty="0"/>
              <a:t> 성인 </a:t>
            </a:r>
            <a:r>
              <a:rPr lang="en-US" altLang="ko-KR" sz="1600"/>
              <a:t>000</a:t>
            </a:r>
            <a:r>
              <a:rPr lang="ko-KR" altLang="en-US" sz="1600"/>
              <a:t>엔</a:t>
            </a:r>
            <a:r>
              <a:rPr lang="en-US" altLang="ko-KR" sz="1600"/>
              <a:t>-</a:t>
            </a:r>
            <a:r>
              <a:rPr lang="ko-KR" altLang="en-US" sz="1600"/>
              <a:t>    유아 </a:t>
            </a:r>
            <a:r>
              <a:rPr lang="en-US" altLang="ko-KR" sz="1600"/>
              <a:t>000</a:t>
            </a:r>
            <a:r>
              <a:rPr lang="ko-KR" altLang="en-US" sz="1600"/>
              <a:t>엔</a:t>
            </a:r>
            <a:r>
              <a:rPr lang="en-US" altLang="ko-KR" sz="1600"/>
              <a:t>-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EF8BDCE-703D-AA03-24AF-427CBF461C88}"/>
              </a:ext>
            </a:extLst>
          </p:cNvPr>
          <p:cNvCxnSpPr>
            <a:cxnSpLocks/>
          </p:cNvCxnSpPr>
          <p:nvPr/>
        </p:nvCxnSpPr>
        <p:spPr>
          <a:xfrm flipV="1">
            <a:off x="2991542" y="3285068"/>
            <a:ext cx="3447963" cy="299948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FDE7E9D-D260-6FAA-0E2B-5510F6A965A0}"/>
              </a:ext>
            </a:extLst>
          </p:cNvPr>
          <p:cNvSpPr txBox="1"/>
          <p:nvPr/>
        </p:nvSpPr>
        <p:spPr>
          <a:xfrm>
            <a:off x="424281" y="801303"/>
            <a:ext cx="4399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highlight>
                  <a:srgbClr val="FFFF00"/>
                </a:highlight>
              </a:rPr>
              <a:t>0)</a:t>
            </a:r>
            <a:r>
              <a:rPr lang="ko-KR" altLang="en-US" sz="1600" dirty="0">
                <a:highlight>
                  <a:srgbClr val="FFFF00"/>
                </a:highlight>
              </a:rPr>
              <a:t>홈페이지 도메인 관련 문의</a:t>
            </a:r>
            <a:r>
              <a:rPr lang="en-US" altLang="ko-KR" sz="1600" dirty="0">
                <a:highlight>
                  <a:srgbClr val="FFFF00"/>
                </a:highlight>
              </a:rPr>
              <a:t>-&gt;</a:t>
            </a:r>
            <a:r>
              <a:rPr lang="ko-KR" altLang="en-US" sz="1600" dirty="0">
                <a:highlight>
                  <a:srgbClr val="FFFF00"/>
                </a:highlight>
              </a:rPr>
              <a:t>석과장님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22D105E7-D1B1-4EF6-972F-1A2E09E65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478236"/>
              </p:ext>
            </p:extLst>
          </p:nvPr>
        </p:nvGraphicFramePr>
        <p:xfrm>
          <a:off x="-3030199" y="1744794"/>
          <a:ext cx="6971609" cy="7416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13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1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2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ja-JP" altLang="en-US" sz="1000" kern="1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小倉駅</a:t>
                      </a:r>
                      <a:endParaRPr lang="ko-KR" sz="1000" b="1" kern="100" dirty="0">
                        <a:latin typeface="Meiryo UI" panose="020B0604030504040204" pitchFamily="34" charset="-128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cs typeface="+mn-cs"/>
                        </a:rPr>
                        <a:t>下関駅</a:t>
                      </a:r>
                      <a:endParaRPr lang="ko-KR" altLang="en-US" sz="1000" b="1" kern="100" dirty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cs typeface="+mn-cs"/>
                        </a:rPr>
                        <a:t>角島大橋</a:t>
                      </a:r>
                      <a:endParaRPr lang="ko-KR" altLang="ko-KR" sz="1000" b="1" kern="100" dirty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cs typeface="+mn-cs"/>
                        </a:rPr>
                        <a:t>元乃隅神社</a:t>
                      </a:r>
                      <a:endParaRPr lang="ko-KR" altLang="ko-KR" sz="1000" b="1" kern="100" dirty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ja-JP" altLang="en-US" sz="1000" b="1" kern="100" dirty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センザキッチン</a:t>
                      </a:r>
                      <a:endParaRPr lang="en-US" altLang="ja-JP" sz="1000" b="1" kern="100" dirty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Meiryo UI" panose="020B0604030504040204" pitchFamily="34" charset="-128"/>
                        <a:cs typeface="+mn-cs"/>
                      </a:endParaRPr>
                    </a:p>
                    <a:p>
                      <a:pPr marL="0" algn="ctr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b="1" kern="10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（</a:t>
                      </a:r>
                      <a:r>
                        <a:rPr lang="ja-JP" altLang="en-US" sz="1000" b="1" kern="10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自</a:t>
                      </a:r>
                      <a:r>
                        <a:rPr lang="ja-JP" altLang="en-US" sz="1000" b="1" kern="100" dirty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由</a:t>
                      </a:r>
                      <a:r>
                        <a:rPr lang="ja-JP" altLang="en-US" sz="1000" b="1" kern="10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昼食・買い物</a:t>
                      </a:r>
                      <a:r>
                        <a:rPr lang="ko-KR" altLang="en-US" sz="1000" b="1" kern="10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）</a:t>
                      </a:r>
                      <a:endParaRPr lang="ko-KR" altLang="ko-KR" sz="1000" b="1" kern="100" dirty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08:00</a:t>
                      </a:r>
                      <a:endParaRPr lang="ko-KR" sz="1000" b="0" kern="100" dirty="0">
                        <a:latin typeface="Meiryo UI" panose="020B0604030504040204" pitchFamily="34" charset="-128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09:00</a:t>
                      </a:r>
                      <a:endParaRPr lang="ko-KR" sz="1000" b="0" kern="100" dirty="0">
                        <a:latin typeface="Meiryo UI" panose="020B0604030504040204" pitchFamily="34" charset="-128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10:15-10:45</a:t>
                      </a:r>
                      <a:endParaRPr lang="ko-KR" sz="1000" b="0" kern="100" dirty="0">
                        <a:latin typeface="Meiryo UI" panose="020B0604030504040204" pitchFamily="34" charset="-128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11:20-12:00</a:t>
                      </a:r>
                      <a:endParaRPr lang="ko-KR" sz="1000" b="0" kern="100" dirty="0">
                        <a:latin typeface="Meiryo UI" panose="020B0604030504040204" pitchFamily="34" charset="-128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12:30-13:40</a:t>
                      </a:r>
                      <a:endParaRPr lang="ko-KR" sz="1000" b="0" kern="100" dirty="0">
                        <a:latin typeface="Meiryo UI" panose="020B0604030504040204" pitchFamily="34" charset="-128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BE327014-FB46-4F9B-A884-291D060E9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132732"/>
              </p:ext>
            </p:extLst>
          </p:nvPr>
        </p:nvGraphicFramePr>
        <p:xfrm>
          <a:off x="-3030202" y="2633484"/>
          <a:ext cx="6971608" cy="7416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351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9481">
                  <a:extLst>
                    <a:ext uri="{9D8B030D-6E8A-4147-A177-3AD203B41FA5}">
                      <a16:colId xmlns:a16="http://schemas.microsoft.com/office/drawing/2014/main" val="3484284474"/>
                    </a:ext>
                  </a:extLst>
                </a:gridCol>
                <a:gridCol w="1689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75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b="1" kern="10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cs typeface="+mn-cs"/>
                        </a:rPr>
                        <a:t>秋吉台</a:t>
                      </a:r>
                      <a:endParaRPr lang="ko-KR" altLang="en-US" sz="1000" b="1" kern="100" dirty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spcAft>
                          <a:spcPts val="0"/>
                        </a:spcAft>
                      </a:pPr>
                      <a:r>
                        <a:rPr lang="ja-JP" altLang="en-US" sz="1000" b="1" kern="10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別府弁天池</a:t>
                      </a:r>
                      <a:endParaRPr lang="en-US" altLang="ja-JP" sz="1000" b="1" kern="10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Meiryo UI" panose="020B0604030504040204" pitchFamily="34" charset="-128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spcAft>
                          <a:spcPts val="0"/>
                        </a:spcAft>
                      </a:pPr>
                      <a:r>
                        <a:rPr lang="ja-JP" altLang="en-US" sz="1000" b="1" kern="10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シーモール</a:t>
                      </a:r>
                      <a:endParaRPr lang="en-US" altLang="ja-JP" sz="1000" b="1" kern="10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Meiryo UI" panose="020B0604030504040204" pitchFamily="34" charset="-128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b="1" kern="10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小倉駅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14:20-14:50</a:t>
                      </a:r>
                      <a:endParaRPr lang="ko-KR" sz="1000" b="0" kern="100" dirty="0">
                        <a:latin typeface="Meiryo UI" panose="020B0604030504040204" pitchFamily="34" charset="-128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ja-JP" sz="1000" b="0" kern="100"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imes New Roman"/>
                        </a:rPr>
                        <a:t>15:10-15:40</a:t>
                      </a:r>
                      <a:endParaRPr lang="ko-KR" sz="1000" b="0" kern="100" dirty="0">
                        <a:latin typeface="Meiryo UI" panose="020B0604030504040204" pitchFamily="34" charset="-128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1000" b="0" kern="100"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imes New Roman"/>
                        </a:rPr>
                        <a:t>16:40</a:t>
                      </a:r>
                      <a:endParaRPr lang="ko-KR" sz="1000" b="0" kern="100" dirty="0">
                        <a:latin typeface="Meiryo UI" panose="020B0604030504040204" pitchFamily="34" charset="-128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1000" b="0" kern="100"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imes New Roman"/>
                        </a:rPr>
                        <a:t>17:40</a:t>
                      </a:r>
                      <a:endParaRPr lang="ko-KR" sz="1000" b="0" kern="100" dirty="0">
                        <a:latin typeface="Meiryo UI" panose="020B0604030504040204" pitchFamily="34" charset="-128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말풍선: 사각형 35">
            <a:extLst>
              <a:ext uri="{FF2B5EF4-FFF2-40B4-BE49-F238E27FC236}">
                <a16:creationId xmlns:a16="http://schemas.microsoft.com/office/drawing/2014/main" id="{B2EF9C79-82D2-436B-8370-4E938D4EF37F}"/>
              </a:ext>
            </a:extLst>
          </p:cNvPr>
          <p:cNvSpPr/>
          <p:nvPr/>
        </p:nvSpPr>
        <p:spPr>
          <a:xfrm>
            <a:off x="-2529186" y="-254300"/>
            <a:ext cx="2292522" cy="1055603"/>
          </a:xfrm>
          <a:prstGeom prst="wedgeRectCallout">
            <a:avLst>
              <a:gd name="adj1" fmla="val 102061"/>
              <a:gd name="adj2" fmla="val 5019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lt1"/>
                </a:solidFill>
              </a:rPr>
              <a:t>✥予定</a:t>
            </a:r>
            <a:r>
              <a:rPr lang="ko-KR" altLang="en-US">
                <a:solidFill>
                  <a:schemeClr val="lt1"/>
                </a:solidFill>
              </a:rPr>
              <a:t> </a:t>
            </a:r>
            <a:r>
              <a:rPr lang="en-US" altLang="ko-KR">
                <a:solidFill>
                  <a:schemeClr val="lt1"/>
                </a:solidFill>
              </a:rPr>
              <a:t>URL : www.1daybus.com</a:t>
            </a:r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37" name="말풍선: 사각형 36">
            <a:extLst>
              <a:ext uri="{FF2B5EF4-FFF2-40B4-BE49-F238E27FC236}">
                <a16:creationId xmlns:a16="http://schemas.microsoft.com/office/drawing/2014/main" id="{A447FFDD-60FE-4C1A-BC18-82B62FF94300}"/>
              </a:ext>
            </a:extLst>
          </p:cNvPr>
          <p:cNvSpPr/>
          <p:nvPr/>
        </p:nvSpPr>
        <p:spPr>
          <a:xfrm>
            <a:off x="-3344974" y="1090177"/>
            <a:ext cx="2292522" cy="507608"/>
          </a:xfrm>
          <a:prstGeom prst="wedgeRectCallout">
            <a:avLst>
              <a:gd name="adj1" fmla="val 80456"/>
              <a:gd name="adj2" fmla="val 9022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코스 아래 표 확인</a:t>
            </a:r>
          </a:p>
        </p:txBody>
      </p:sp>
      <p:sp>
        <p:nvSpPr>
          <p:cNvPr id="38" name="말풍선: 사각형 37">
            <a:extLst>
              <a:ext uri="{FF2B5EF4-FFF2-40B4-BE49-F238E27FC236}">
                <a16:creationId xmlns:a16="http://schemas.microsoft.com/office/drawing/2014/main" id="{0EF028F9-B7DA-42C0-B669-BB80464B54D0}"/>
              </a:ext>
            </a:extLst>
          </p:cNvPr>
          <p:cNvSpPr/>
          <p:nvPr/>
        </p:nvSpPr>
        <p:spPr>
          <a:xfrm>
            <a:off x="-1447800" y="3432368"/>
            <a:ext cx="2304095" cy="741680"/>
          </a:xfrm>
          <a:prstGeom prst="wedgeRectCallout">
            <a:avLst>
              <a:gd name="adj1" fmla="val 61621"/>
              <a:gd name="adj2" fmla="val -514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>
                <a:solidFill>
                  <a:schemeClr val="bg1"/>
                </a:solidFill>
              </a:rPr>
              <a:t>성인 </a:t>
            </a:r>
            <a:r>
              <a:rPr lang="en-US" altLang="ko-KR" sz="1800">
                <a:solidFill>
                  <a:schemeClr val="bg1"/>
                </a:solidFill>
              </a:rPr>
              <a:t>59</a:t>
            </a:r>
            <a:r>
              <a:rPr lang="en-US" altLang="ja-JP" sz="1800">
                <a:solidFill>
                  <a:schemeClr val="bg1"/>
                </a:solidFill>
              </a:rPr>
              <a:t>000</a:t>
            </a:r>
            <a:r>
              <a:rPr lang="ko-KR" altLang="en-US" sz="1800">
                <a:solidFill>
                  <a:schemeClr val="bg1"/>
                </a:solidFill>
              </a:rPr>
              <a:t>원</a:t>
            </a:r>
            <a:endParaRPr lang="en-US" altLang="ko-KR" sz="1800">
              <a:solidFill>
                <a:schemeClr val="bg1"/>
              </a:solidFill>
            </a:endParaRPr>
          </a:p>
          <a:p>
            <a:r>
              <a:rPr lang="en-US" altLang="ko-KR" sz="1800">
                <a:solidFill>
                  <a:schemeClr val="bg1"/>
                </a:solidFill>
              </a:rPr>
              <a:t>6</a:t>
            </a:r>
            <a:r>
              <a:rPr lang="ko-KR" altLang="en-US" sz="1800">
                <a:solidFill>
                  <a:schemeClr val="bg1"/>
                </a:solidFill>
              </a:rPr>
              <a:t>세 이하 </a:t>
            </a:r>
            <a:r>
              <a:rPr lang="en-US" altLang="ko-KR" sz="1800">
                <a:solidFill>
                  <a:schemeClr val="bg1"/>
                </a:solidFill>
              </a:rPr>
              <a:t>29</a:t>
            </a:r>
            <a:r>
              <a:rPr lang="en-US" altLang="ja-JP" sz="1800">
                <a:solidFill>
                  <a:schemeClr val="bg1"/>
                </a:solidFill>
              </a:rPr>
              <a:t>000</a:t>
            </a:r>
            <a:r>
              <a:rPr lang="ko-KR" altLang="en-US" sz="1800">
                <a:solidFill>
                  <a:schemeClr val="bg1"/>
                </a:solidFill>
              </a:rPr>
              <a:t>원</a:t>
            </a:r>
            <a:endParaRPr lang="en-US" altLang="ko-KR" sz="1800" dirty="0">
              <a:solidFill>
                <a:schemeClr val="bg1"/>
              </a:solidFill>
            </a:endParaRPr>
          </a:p>
        </p:txBody>
      </p:sp>
      <p:sp>
        <p:nvSpPr>
          <p:cNvPr id="41" name="말풍선: 사각형 40">
            <a:extLst>
              <a:ext uri="{FF2B5EF4-FFF2-40B4-BE49-F238E27FC236}">
                <a16:creationId xmlns:a16="http://schemas.microsoft.com/office/drawing/2014/main" id="{BEFE1132-D0C7-455A-9595-0DEB242B372A}"/>
              </a:ext>
            </a:extLst>
          </p:cNvPr>
          <p:cNvSpPr/>
          <p:nvPr/>
        </p:nvSpPr>
        <p:spPr>
          <a:xfrm>
            <a:off x="10748024" y="3178761"/>
            <a:ext cx="1713226" cy="741680"/>
          </a:xfrm>
          <a:prstGeom prst="wedgeRectCallout">
            <a:avLst>
              <a:gd name="adj1" fmla="val -65704"/>
              <a:gd name="adj2" fmla="val 683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/>
              <a:t>-&gt;</a:t>
            </a:r>
            <a:r>
              <a:rPr lang="ko-KR" altLang="en-US" sz="1800"/>
              <a:t>씨몰 사진</a:t>
            </a:r>
            <a:endParaRPr lang="en-US" altLang="ko-KR" sz="1800"/>
          </a:p>
          <a:p>
            <a:r>
              <a:rPr lang="ko-KR" altLang="en-US" sz="1800"/>
              <a:t>확인 중</a:t>
            </a:r>
            <a:endParaRPr lang="en-US" altLang="ko-KR" sz="1800"/>
          </a:p>
        </p:txBody>
      </p:sp>
    </p:spTree>
    <p:extLst>
      <p:ext uri="{BB962C8B-B14F-4D97-AF65-F5344CB8AC3E}">
        <p14:creationId xmlns:p14="http://schemas.microsoft.com/office/powerpoint/2010/main" val="1735673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94F3945-0AA4-A958-5414-7577FC5F1F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814" y="0"/>
            <a:ext cx="8404186" cy="702975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052DC86-BDF4-9BE8-251C-98BEFE279E3A}"/>
              </a:ext>
            </a:extLst>
          </p:cNvPr>
          <p:cNvSpPr/>
          <p:nvPr/>
        </p:nvSpPr>
        <p:spPr>
          <a:xfrm>
            <a:off x="7364728" y="1809448"/>
            <a:ext cx="2036837" cy="6192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1A5246-F466-B930-F8A1-511CCBD36A39}"/>
              </a:ext>
            </a:extLst>
          </p:cNvPr>
          <p:cNvSpPr/>
          <p:nvPr/>
        </p:nvSpPr>
        <p:spPr>
          <a:xfrm>
            <a:off x="8777453" y="2844800"/>
            <a:ext cx="1611084" cy="9337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BD894A8-FE5D-1514-C6C3-E7662AE2AB14}"/>
              </a:ext>
            </a:extLst>
          </p:cNvPr>
          <p:cNvSpPr/>
          <p:nvPr/>
        </p:nvSpPr>
        <p:spPr>
          <a:xfrm>
            <a:off x="7127662" y="2844800"/>
            <a:ext cx="1611084" cy="9337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0301C7-6B49-D6A6-B26B-A598E8772D0D}"/>
              </a:ext>
            </a:extLst>
          </p:cNvPr>
          <p:cNvSpPr txBox="1"/>
          <p:nvPr/>
        </p:nvSpPr>
        <p:spPr>
          <a:xfrm>
            <a:off x="424281" y="1322401"/>
            <a:ext cx="4220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highlight>
                  <a:srgbClr val="FFFF00"/>
                </a:highlight>
              </a:rPr>
              <a:t>1)</a:t>
            </a:r>
            <a:r>
              <a:rPr lang="ko-KR" altLang="en-US" sz="1600" dirty="0">
                <a:highlight>
                  <a:srgbClr val="FFFF00"/>
                </a:highlight>
              </a:rPr>
              <a:t>하치만 버스 이미지 요청</a:t>
            </a:r>
            <a:r>
              <a:rPr lang="en-US" altLang="ko-KR" sz="1600">
                <a:highlight>
                  <a:srgbClr val="FFFF00"/>
                </a:highlight>
              </a:rPr>
              <a:t>-&gt;</a:t>
            </a:r>
            <a:r>
              <a:rPr lang="ko-KR" altLang="en-US" sz="1600">
                <a:highlight>
                  <a:srgbClr val="FFFF00"/>
                </a:highlight>
              </a:rPr>
              <a:t>석과장님</a:t>
            </a:r>
            <a:endParaRPr lang="en-US" altLang="ko-KR" sz="1600">
              <a:highlight>
                <a:srgbClr val="FFFF00"/>
              </a:highlight>
            </a:endParaRPr>
          </a:p>
          <a:p>
            <a:endParaRPr lang="ko-KR" altLang="en-US" sz="1600" dirty="0">
              <a:highlight>
                <a:srgbClr val="FFFF00"/>
              </a:highlight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89CF6A7-400B-509F-4A44-1C83EBA80ABA}"/>
              </a:ext>
            </a:extLst>
          </p:cNvPr>
          <p:cNvCxnSpPr>
            <a:cxnSpLocks/>
          </p:cNvCxnSpPr>
          <p:nvPr/>
        </p:nvCxnSpPr>
        <p:spPr>
          <a:xfrm>
            <a:off x="4007089" y="1753140"/>
            <a:ext cx="3309257" cy="501412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550A1F6-172A-5CB2-C18F-7B2A645887EF}"/>
              </a:ext>
            </a:extLst>
          </p:cNvPr>
          <p:cNvSpPr txBox="1"/>
          <p:nvPr/>
        </p:nvSpPr>
        <p:spPr>
          <a:xfrm>
            <a:off x="7270239" y="2475468"/>
            <a:ext cx="2537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2)</a:t>
            </a:r>
            <a:r>
              <a:rPr lang="ko-KR" altLang="en-US" sz="1600" dirty="0" err="1"/>
              <a:t>모토노스미로</a:t>
            </a:r>
            <a:r>
              <a:rPr lang="ko-KR" altLang="en-US" sz="1600" dirty="0"/>
              <a:t> 교체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65A3EF-444D-B2C1-6A28-040E1E8B2CA3}"/>
              </a:ext>
            </a:extLst>
          </p:cNvPr>
          <p:cNvSpPr txBox="1"/>
          <p:nvPr/>
        </p:nvSpPr>
        <p:spPr>
          <a:xfrm>
            <a:off x="10484155" y="2868545"/>
            <a:ext cx="170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3)</a:t>
            </a:r>
            <a:r>
              <a:rPr lang="ko-KR" altLang="en-US" sz="1600" dirty="0"/>
              <a:t>코인</a:t>
            </a:r>
            <a:r>
              <a:rPr lang="en-US" altLang="ko-KR" sz="1600" dirty="0"/>
              <a:t>/</a:t>
            </a:r>
            <a:r>
              <a:rPr lang="ko-KR" altLang="en-US" sz="1600" dirty="0"/>
              <a:t>엔화로 교체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A363D61-AB56-B615-1153-684538EC8AE7}"/>
              </a:ext>
            </a:extLst>
          </p:cNvPr>
          <p:cNvCxnSpPr>
            <a:cxnSpLocks/>
          </p:cNvCxnSpPr>
          <p:nvPr/>
        </p:nvCxnSpPr>
        <p:spPr>
          <a:xfrm>
            <a:off x="4228495" y="3681790"/>
            <a:ext cx="5747657" cy="1669143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2ECF965-56D4-EC6F-B71D-ED1E853EA429}"/>
              </a:ext>
            </a:extLst>
          </p:cNvPr>
          <p:cNvSpPr txBox="1"/>
          <p:nvPr/>
        </p:nvSpPr>
        <p:spPr>
          <a:xfrm>
            <a:off x="424281" y="3039888"/>
            <a:ext cx="35913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4)</a:t>
            </a:r>
            <a:r>
              <a:rPr lang="ko-KR" altLang="en-US" sz="1600" dirty="0"/>
              <a:t>텍스트 수정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쉽고 간편한 예약</a:t>
            </a:r>
            <a:endParaRPr lang="en-US" altLang="ko-KR" sz="1600" dirty="0"/>
          </a:p>
          <a:p>
            <a:r>
              <a:rPr lang="ko-KR" altLang="en-US" sz="1600" dirty="0"/>
              <a:t>전화 한 통으로 편하고 간단하게 예약가능</a:t>
            </a:r>
            <a:endParaRPr lang="en-US" altLang="ko-KR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21ABFB-689E-B6ED-FC9B-4575441DBDD1}"/>
              </a:ext>
            </a:extLst>
          </p:cNvPr>
          <p:cNvSpPr txBox="1"/>
          <p:nvPr/>
        </p:nvSpPr>
        <p:spPr>
          <a:xfrm>
            <a:off x="227390" y="177373"/>
            <a:ext cx="2985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01. </a:t>
            </a:r>
            <a:r>
              <a:rPr lang="ko-KR" altLang="en-US" sz="2000" b="1" dirty="0" err="1"/>
              <a:t>원데이버스</a:t>
            </a:r>
            <a:endParaRPr lang="ko-KR" altLang="en-US" sz="2000" b="1" dirty="0"/>
          </a:p>
        </p:txBody>
      </p:sp>
      <p:sp>
        <p:nvSpPr>
          <p:cNvPr id="15" name="말풍선: 사각형 14">
            <a:extLst>
              <a:ext uri="{FF2B5EF4-FFF2-40B4-BE49-F238E27FC236}">
                <a16:creationId xmlns:a16="http://schemas.microsoft.com/office/drawing/2014/main" id="{F5EF5FCB-DE32-46CE-87EE-3F555DB9AE73}"/>
              </a:ext>
            </a:extLst>
          </p:cNvPr>
          <p:cNvSpPr/>
          <p:nvPr/>
        </p:nvSpPr>
        <p:spPr>
          <a:xfrm>
            <a:off x="676428" y="1828764"/>
            <a:ext cx="1317772" cy="425788"/>
          </a:xfrm>
          <a:prstGeom prst="wedgeRectCallout">
            <a:avLst>
              <a:gd name="adj1" fmla="val 86641"/>
              <a:gd name="adj2" fmla="val -7209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메일 첨부</a:t>
            </a:r>
          </a:p>
        </p:txBody>
      </p:sp>
    </p:spTree>
    <p:extLst>
      <p:ext uri="{BB962C8B-B14F-4D97-AF65-F5344CB8AC3E}">
        <p14:creationId xmlns:p14="http://schemas.microsoft.com/office/powerpoint/2010/main" val="3109323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00F510-B2D5-E19B-E120-C9B6E41C9FA0}"/>
              </a:ext>
            </a:extLst>
          </p:cNvPr>
          <p:cNvSpPr txBox="1"/>
          <p:nvPr/>
        </p:nvSpPr>
        <p:spPr>
          <a:xfrm>
            <a:off x="227390" y="177373"/>
            <a:ext cx="2985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02. </a:t>
            </a:r>
            <a:r>
              <a:rPr lang="ko-KR" altLang="en-US" sz="2000" b="1" dirty="0"/>
              <a:t>운행코스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52D150B-C354-9BA0-3929-5AB34F6897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442" y="0"/>
            <a:ext cx="8198854" cy="6858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1FDE7BB-EDB4-DBB3-A6A0-B31CC8BB7226}"/>
              </a:ext>
            </a:extLst>
          </p:cNvPr>
          <p:cNvSpPr/>
          <p:nvPr/>
        </p:nvSpPr>
        <p:spPr>
          <a:xfrm>
            <a:off x="7578089" y="1098248"/>
            <a:ext cx="1393192" cy="6192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37E75B-98DA-9327-3498-168333D500E3}"/>
              </a:ext>
            </a:extLst>
          </p:cNvPr>
          <p:cNvSpPr txBox="1"/>
          <p:nvPr/>
        </p:nvSpPr>
        <p:spPr>
          <a:xfrm>
            <a:off x="424281" y="738966"/>
            <a:ext cx="359133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1)</a:t>
            </a:r>
            <a:r>
              <a:rPr lang="ko-KR" altLang="en-US" sz="1600" dirty="0"/>
              <a:t>텍스트 수정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출발일 매주 토</a:t>
            </a:r>
            <a:r>
              <a:rPr lang="en-US" altLang="ko-KR" sz="1600" dirty="0"/>
              <a:t>, </a:t>
            </a:r>
            <a:r>
              <a:rPr lang="ko-KR" altLang="en-US" sz="1600" dirty="0"/>
              <a:t>일</a:t>
            </a:r>
            <a:r>
              <a:rPr lang="en-US" altLang="ko-KR" sz="1600" dirty="0"/>
              <a:t>(</a:t>
            </a:r>
            <a:r>
              <a:rPr lang="ko-KR" altLang="en-US" sz="1600" dirty="0"/>
              <a:t>한국 공휴일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상품가격</a:t>
            </a:r>
            <a:endParaRPr lang="en-US" altLang="ko-KR" sz="1600" dirty="0"/>
          </a:p>
          <a:p>
            <a:r>
              <a:rPr lang="ko-KR" altLang="en-US" sz="1600" dirty="0"/>
              <a:t>성인 </a:t>
            </a:r>
            <a:r>
              <a:rPr lang="en-US" altLang="ko-KR" sz="1600" dirty="0"/>
              <a:t>000</a:t>
            </a:r>
            <a:r>
              <a:rPr lang="ko-KR" altLang="en-US" sz="1600" dirty="0"/>
              <a:t>엔</a:t>
            </a:r>
            <a:endParaRPr lang="en-US" altLang="ko-KR" sz="1600" dirty="0"/>
          </a:p>
          <a:p>
            <a:r>
              <a:rPr lang="ko-KR" altLang="en-US" sz="1600" dirty="0"/>
              <a:t>유아 </a:t>
            </a:r>
            <a:r>
              <a:rPr lang="en-US" altLang="ko-KR" sz="1600" dirty="0"/>
              <a:t>000</a:t>
            </a:r>
            <a:r>
              <a:rPr lang="ko-KR" altLang="en-US" sz="1600" dirty="0"/>
              <a:t>엔</a:t>
            </a:r>
            <a:endParaRPr lang="en-US" altLang="ko-KR" sz="1600" dirty="0"/>
          </a:p>
          <a:p>
            <a:r>
              <a:rPr lang="ko-KR" altLang="en-US" sz="1600" dirty="0" err="1"/>
              <a:t>최소출발인원</a:t>
            </a:r>
            <a:r>
              <a:rPr lang="ko-KR" altLang="en-US" sz="1600" dirty="0"/>
              <a:t> </a:t>
            </a:r>
            <a:r>
              <a:rPr lang="en-US" altLang="ko-KR" sz="1600" dirty="0"/>
              <a:t>6</a:t>
            </a:r>
            <a:r>
              <a:rPr lang="ko-KR" altLang="en-US" sz="1600" dirty="0"/>
              <a:t>명</a:t>
            </a:r>
            <a:endParaRPr lang="en-US" altLang="ko-KR" sz="16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A53138-F5A6-4E34-1C34-7DE919233B68}"/>
              </a:ext>
            </a:extLst>
          </p:cNvPr>
          <p:cNvSpPr/>
          <p:nvPr/>
        </p:nvSpPr>
        <p:spPr>
          <a:xfrm>
            <a:off x="5541252" y="1936448"/>
            <a:ext cx="2036837" cy="3089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6591699-EDD1-5589-050C-6DE49E3A6E7F}"/>
              </a:ext>
            </a:extLst>
          </p:cNvPr>
          <p:cNvCxnSpPr>
            <a:cxnSpLocks/>
          </p:cNvCxnSpPr>
          <p:nvPr/>
        </p:nvCxnSpPr>
        <p:spPr>
          <a:xfrm flipV="1">
            <a:off x="3633410" y="1386840"/>
            <a:ext cx="3944679" cy="429195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B508097-6825-E3A1-4204-815CA8D8F768}"/>
              </a:ext>
            </a:extLst>
          </p:cNvPr>
          <p:cNvCxnSpPr>
            <a:cxnSpLocks/>
          </p:cNvCxnSpPr>
          <p:nvPr/>
        </p:nvCxnSpPr>
        <p:spPr>
          <a:xfrm flipV="1">
            <a:off x="3144520" y="2245360"/>
            <a:ext cx="2396732" cy="100076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5F0611D-C18B-ED90-EC52-1A191E43FCD6}"/>
              </a:ext>
            </a:extLst>
          </p:cNvPr>
          <p:cNvSpPr txBox="1"/>
          <p:nvPr/>
        </p:nvSpPr>
        <p:spPr>
          <a:xfrm>
            <a:off x="424281" y="2923048"/>
            <a:ext cx="3591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2)</a:t>
            </a:r>
            <a:r>
              <a:rPr lang="ko-KR" altLang="en-US" sz="1600" dirty="0"/>
              <a:t>이미지 체크</a:t>
            </a:r>
            <a:endParaRPr lang="en-US" altLang="ko-KR" sz="16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E044E6F-2B87-25D8-C47E-ABBD43583DE8}"/>
              </a:ext>
            </a:extLst>
          </p:cNvPr>
          <p:cNvSpPr/>
          <p:nvPr/>
        </p:nvSpPr>
        <p:spPr>
          <a:xfrm>
            <a:off x="7034576" y="2546798"/>
            <a:ext cx="2749504" cy="3089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BCB3B4-0DB6-16EF-F115-9DB70641DFBC}"/>
              </a:ext>
            </a:extLst>
          </p:cNvPr>
          <p:cNvSpPr txBox="1"/>
          <p:nvPr/>
        </p:nvSpPr>
        <p:spPr>
          <a:xfrm>
            <a:off x="424281" y="3675445"/>
            <a:ext cx="35913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3)</a:t>
            </a:r>
            <a:r>
              <a:rPr lang="ko-KR" altLang="en-US" sz="1600" dirty="0"/>
              <a:t>승차장소</a:t>
            </a:r>
            <a:endParaRPr lang="en-US" altLang="ko-KR" sz="1600" dirty="0"/>
          </a:p>
          <a:p>
            <a:r>
              <a:rPr lang="ko-KR" altLang="en-US" sz="1600" dirty="0" err="1"/>
              <a:t>고쿠라역</a:t>
            </a:r>
            <a:r>
              <a:rPr lang="en-US" altLang="ko-KR" sz="1600" dirty="0"/>
              <a:t>/</a:t>
            </a:r>
            <a:r>
              <a:rPr lang="ko-KR" altLang="en-US" sz="1600" dirty="0" err="1"/>
              <a:t>시모노세키역</a:t>
            </a:r>
            <a:endParaRPr lang="en-US" altLang="ko-KR" sz="1600" dirty="0"/>
          </a:p>
          <a:p>
            <a:r>
              <a:rPr lang="ko-KR" altLang="en-US" sz="1600" dirty="0"/>
              <a:t>하차장소</a:t>
            </a:r>
            <a:endParaRPr lang="en-US" altLang="ko-KR" sz="1600" dirty="0"/>
          </a:p>
          <a:p>
            <a:r>
              <a:rPr lang="ko-KR" altLang="en-US" sz="1600" dirty="0" err="1"/>
              <a:t>시모노세키역</a:t>
            </a:r>
            <a:r>
              <a:rPr lang="en-US" altLang="ko-KR" sz="1600" dirty="0"/>
              <a:t>/</a:t>
            </a:r>
            <a:r>
              <a:rPr lang="ko-KR" altLang="en-US" sz="1600" dirty="0" err="1"/>
              <a:t>고쿠라역</a:t>
            </a:r>
            <a:endParaRPr lang="en-US" altLang="ko-KR" sz="1600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E3A3CC0-4E08-6656-1ACB-E6947A4266EF}"/>
              </a:ext>
            </a:extLst>
          </p:cNvPr>
          <p:cNvCxnSpPr>
            <a:cxnSpLocks/>
          </p:cNvCxnSpPr>
          <p:nvPr/>
        </p:nvCxnSpPr>
        <p:spPr>
          <a:xfrm flipV="1">
            <a:off x="3068505" y="2871749"/>
            <a:ext cx="4018095" cy="921011"/>
          </a:xfrm>
          <a:prstGeom prst="straightConnector1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4FD0D1D-4DF0-95A2-516E-F0724A6233C7}"/>
              </a:ext>
            </a:extLst>
          </p:cNvPr>
          <p:cNvSpPr txBox="1"/>
          <p:nvPr/>
        </p:nvSpPr>
        <p:spPr>
          <a:xfrm>
            <a:off x="5782420" y="3524886"/>
            <a:ext cx="3591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highlight>
                  <a:srgbClr val="FFFF00"/>
                </a:highlight>
              </a:rPr>
              <a:t>4)</a:t>
            </a:r>
            <a:r>
              <a:rPr lang="ko-KR" altLang="en-US" sz="1600" dirty="0">
                <a:highlight>
                  <a:srgbClr val="FFFF00"/>
                </a:highlight>
              </a:rPr>
              <a:t>시간대별 여행일정 자료 요청</a:t>
            </a:r>
            <a:endParaRPr lang="en-US" altLang="ko-KR" sz="1600" dirty="0">
              <a:highlight>
                <a:srgbClr val="FFFF00"/>
              </a:highlight>
            </a:endParaRPr>
          </a:p>
        </p:txBody>
      </p:sp>
      <p:sp>
        <p:nvSpPr>
          <p:cNvPr id="3" name="말풍선: 사각형 2">
            <a:extLst>
              <a:ext uri="{FF2B5EF4-FFF2-40B4-BE49-F238E27FC236}">
                <a16:creationId xmlns:a16="http://schemas.microsoft.com/office/drawing/2014/main" id="{5C12A49A-A048-4432-BDA6-19E3EE353755}"/>
              </a:ext>
            </a:extLst>
          </p:cNvPr>
          <p:cNvSpPr/>
          <p:nvPr/>
        </p:nvSpPr>
        <p:spPr>
          <a:xfrm>
            <a:off x="-1681147" y="414184"/>
            <a:ext cx="1490647" cy="1187253"/>
          </a:xfrm>
          <a:prstGeom prst="wedgeRectCallout">
            <a:avLst>
              <a:gd name="adj1" fmla="val 94184"/>
              <a:gd name="adj2" fmla="val 3147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bg1"/>
                </a:solidFill>
              </a:rPr>
              <a:t>토일</a:t>
            </a:r>
            <a:r>
              <a:rPr lang="en-US" altLang="ko-KR">
                <a:solidFill>
                  <a:schemeClr val="bg1"/>
                </a:solidFill>
              </a:rPr>
              <a:t>+9/25, 10/9, 12/25, 1/1, 2/8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3" name="말풍선: 사각형 22">
            <a:extLst>
              <a:ext uri="{FF2B5EF4-FFF2-40B4-BE49-F238E27FC236}">
                <a16:creationId xmlns:a16="http://schemas.microsoft.com/office/drawing/2014/main" id="{6E7DB6C9-3DFE-4312-99D5-86ECF0EB9C90}"/>
              </a:ext>
            </a:extLst>
          </p:cNvPr>
          <p:cNvSpPr/>
          <p:nvPr/>
        </p:nvSpPr>
        <p:spPr>
          <a:xfrm>
            <a:off x="-2260599" y="1695223"/>
            <a:ext cx="2064126" cy="851576"/>
          </a:xfrm>
          <a:prstGeom prst="wedgeRectCallout">
            <a:avLst>
              <a:gd name="adj1" fmla="val 79938"/>
              <a:gd name="adj2" fmla="val -273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>
                <a:solidFill>
                  <a:schemeClr val="bg1"/>
                </a:solidFill>
              </a:rPr>
              <a:t>성인 </a:t>
            </a:r>
            <a:r>
              <a:rPr lang="en-US" altLang="ko-KR" sz="1800">
                <a:solidFill>
                  <a:schemeClr val="bg1"/>
                </a:solidFill>
              </a:rPr>
              <a:t>59</a:t>
            </a:r>
            <a:r>
              <a:rPr lang="en-US" altLang="ja-JP" sz="1800">
                <a:solidFill>
                  <a:schemeClr val="bg1"/>
                </a:solidFill>
              </a:rPr>
              <a:t>000</a:t>
            </a:r>
            <a:r>
              <a:rPr lang="ko-KR" altLang="en-US" sz="1800">
                <a:solidFill>
                  <a:schemeClr val="bg1"/>
                </a:solidFill>
              </a:rPr>
              <a:t>원</a:t>
            </a:r>
            <a:endParaRPr lang="en-US" altLang="ko-KR" sz="1800">
              <a:solidFill>
                <a:schemeClr val="bg1"/>
              </a:solidFill>
            </a:endParaRPr>
          </a:p>
          <a:p>
            <a:r>
              <a:rPr lang="en-US" altLang="ko-KR" sz="1800">
                <a:solidFill>
                  <a:schemeClr val="bg1"/>
                </a:solidFill>
              </a:rPr>
              <a:t>6</a:t>
            </a:r>
            <a:r>
              <a:rPr lang="ko-KR" altLang="en-US" sz="1800">
                <a:solidFill>
                  <a:schemeClr val="bg1"/>
                </a:solidFill>
              </a:rPr>
              <a:t>세 이하 </a:t>
            </a:r>
            <a:r>
              <a:rPr lang="en-US" altLang="ko-KR" sz="1800">
                <a:solidFill>
                  <a:schemeClr val="bg1"/>
                </a:solidFill>
              </a:rPr>
              <a:t>29</a:t>
            </a:r>
            <a:r>
              <a:rPr lang="en-US" altLang="ja-JP" sz="1800">
                <a:solidFill>
                  <a:schemeClr val="bg1"/>
                </a:solidFill>
              </a:rPr>
              <a:t>000</a:t>
            </a:r>
            <a:r>
              <a:rPr lang="ko-KR" altLang="en-US" sz="1800">
                <a:solidFill>
                  <a:schemeClr val="bg1"/>
                </a:solidFill>
              </a:rPr>
              <a:t>원</a:t>
            </a:r>
            <a:endParaRPr lang="en-US" altLang="ko-KR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943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9DA7334-E183-0986-6BE9-C6FB384561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084" y="0"/>
            <a:ext cx="1027095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C138EA-66D1-F81E-F39A-D162A25B70D0}"/>
              </a:ext>
            </a:extLst>
          </p:cNvPr>
          <p:cNvSpPr txBox="1"/>
          <p:nvPr/>
        </p:nvSpPr>
        <p:spPr>
          <a:xfrm>
            <a:off x="227390" y="177373"/>
            <a:ext cx="2985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03. </a:t>
            </a:r>
            <a:r>
              <a:rPr lang="ko-KR" altLang="en-US" sz="2000" b="1" dirty="0"/>
              <a:t>상단 헤드 구성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FBFA2F1-85CA-820F-5335-43D2060CAEC4}"/>
              </a:ext>
            </a:extLst>
          </p:cNvPr>
          <p:cNvSpPr/>
          <p:nvPr/>
        </p:nvSpPr>
        <p:spPr>
          <a:xfrm>
            <a:off x="5774688" y="350519"/>
            <a:ext cx="2932431" cy="2269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807CAC-5BCF-2B30-3324-022D66F7A01C}"/>
              </a:ext>
            </a:extLst>
          </p:cNvPr>
          <p:cNvSpPr txBox="1"/>
          <p:nvPr/>
        </p:nvSpPr>
        <p:spPr>
          <a:xfrm>
            <a:off x="424280" y="1134888"/>
            <a:ext cx="55243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1-1)</a:t>
            </a:r>
            <a:r>
              <a:rPr lang="ko-KR" altLang="en-US" sz="1600" dirty="0"/>
              <a:t>야마구치 </a:t>
            </a:r>
            <a:r>
              <a:rPr lang="en-US" altLang="ko-KR" sz="1600" dirty="0"/>
              <a:t>1DAY</a:t>
            </a:r>
            <a:r>
              <a:rPr lang="ko-KR" altLang="en-US" sz="1600" dirty="0"/>
              <a:t>버스</a:t>
            </a:r>
            <a:endParaRPr lang="en-US" altLang="ko-KR" sz="1600" dirty="0"/>
          </a:p>
          <a:p>
            <a:r>
              <a:rPr lang="en-US" altLang="ko-KR" sz="1600" dirty="0"/>
              <a:t>(</a:t>
            </a:r>
            <a:r>
              <a:rPr lang="ko-KR" altLang="en-US" sz="1600" dirty="0" err="1"/>
              <a:t>야마구치현</a:t>
            </a:r>
            <a:r>
              <a:rPr lang="en-US" altLang="ko-KR" sz="1600" dirty="0"/>
              <a:t>)</a:t>
            </a:r>
            <a:r>
              <a:rPr lang="ko-KR" altLang="en-US" sz="1600" dirty="0"/>
              <a:t> 관광안내</a:t>
            </a:r>
            <a:endParaRPr lang="en-US" altLang="ko-KR" sz="1600" dirty="0"/>
          </a:p>
          <a:p>
            <a:r>
              <a:rPr lang="ko-KR" altLang="en-US" sz="1600" dirty="0"/>
              <a:t>운행코스</a:t>
            </a:r>
            <a:endParaRPr lang="en-US" altLang="ko-KR" sz="1600" dirty="0"/>
          </a:p>
          <a:p>
            <a:r>
              <a:rPr lang="ko-KR" altLang="en-US" sz="1600" strike="sngStrike"/>
              <a:t>문의</a:t>
            </a:r>
            <a:r>
              <a:rPr lang="ko-KR" altLang="en-US" sz="1600"/>
              <a:t>게시판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8ED2E33-F8B9-2094-4D35-893CCA04EA6A}"/>
              </a:ext>
            </a:extLst>
          </p:cNvPr>
          <p:cNvCxnSpPr>
            <a:cxnSpLocks/>
          </p:cNvCxnSpPr>
          <p:nvPr/>
        </p:nvCxnSpPr>
        <p:spPr>
          <a:xfrm flipV="1">
            <a:off x="2880360" y="624840"/>
            <a:ext cx="3068320" cy="78232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DE899B7-3C5B-1A8D-A55F-411DF958F342}"/>
              </a:ext>
            </a:extLst>
          </p:cNvPr>
          <p:cNvSpPr txBox="1"/>
          <p:nvPr/>
        </p:nvSpPr>
        <p:spPr>
          <a:xfrm>
            <a:off x="424281" y="2451157"/>
            <a:ext cx="38276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1-2)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클릭시</a:t>
            </a:r>
            <a:r>
              <a:rPr lang="en-US" altLang="ko-KR" sz="1600" dirty="0"/>
              <a:t>-(</a:t>
            </a:r>
            <a:r>
              <a:rPr lang="ko-KR" altLang="en-US" sz="1600" dirty="0" err="1"/>
              <a:t>야마구치현</a:t>
            </a:r>
            <a:r>
              <a:rPr lang="en-US" altLang="ko-KR" sz="1600" dirty="0"/>
              <a:t>)</a:t>
            </a:r>
            <a:r>
              <a:rPr lang="ko-KR" altLang="en-US" sz="1600" dirty="0"/>
              <a:t> 관광안내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메인 관광지 이미지 보이면서</a:t>
            </a:r>
            <a:endParaRPr lang="en-US" altLang="ko-KR" sz="1600" dirty="0"/>
          </a:p>
          <a:p>
            <a:r>
              <a:rPr lang="ko-KR" altLang="en-US" sz="1600" dirty="0" err="1"/>
              <a:t>클릭시</a:t>
            </a:r>
            <a:r>
              <a:rPr lang="ko-KR" altLang="en-US" sz="1600" dirty="0"/>
              <a:t> 야마구치 한국 홈페이지로 링크 연결</a:t>
            </a:r>
            <a:endParaRPr lang="en-US" altLang="ko-KR" sz="16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C5D3E2F-E325-1C6C-37BD-00B761225FA3}"/>
              </a:ext>
            </a:extLst>
          </p:cNvPr>
          <p:cNvSpPr/>
          <p:nvPr/>
        </p:nvSpPr>
        <p:spPr>
          <a:xfrm>
            <a:off x="6281420" y="1206731"/>
            <a:ext cx="2494280" cy="5283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535B58-FD25-ADC0-9785-BC5D2CFCD584}"/>
              </a:ext>
            </a:extLst>
          </p:cNvPr>
          <p:cNvSpPr txBox="1"/>
          <p:nvPr/>
        </p:nvSpPr>
        <p:spPr>
          <a:xfrm>
            <a:off x="9192078" y="745440"/>
            <a:ext cx="34063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2)</a:t>
            </a:r>
            <a:r>
              <a:rPr lang="ko-KR" altLang="en-US" sz="1600" dirty="0"/>
              <a:t>텍스트 수정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예약 및 문의사항</a:t>
            </a:r>
            <a:endParaRPr lang="en-US" altLang="ko-KR" sz="1600" dirty="0"/>
          </a:p>
          <a:p>
            <a:r>
              <a:rPr lang="ko-KR" altLang="en-US" sz="1600" dirty="0"/>
              <a:t>야마구치 </a:t>
            </a:r>
            <a:r>
              <a:rPr lang="en-US" altLang="ko-KR" sz="1600" dirty="0"/>
              <a:t>1DAY </a:t>
            </a:r>
            <a:r>
              <a:rPr lang="ko-KR" altLang="en-US" sz="1600" dirty="0"/>
              <a:t>버스에 대한 예약과 궁금증을 해결해드립니다</a:t>
            </a:r>
            <a:r>
              <a:rPr lang="en-US" altLang="ko-KR" sz="1600" dirty="0"/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AE6C9C1-D2E7-D01D-EE18-2F6FF2361D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6" t="9112" r="17788" b="15259"/>
          <a:stretch>
            <a:fillRect/>
          </a:stretch>
        </p:blipFill>
        <p:spPr>
          <a:xfrm>
            <a:off x="1564514" y="3643086"/>
            <a:ext cx="2799492" cy="303754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73F11C0-8CF8-3C06-F3C9-754EF189BCA0}"/>
              </a:ext>
            </a:extLst>
          </p:cNvPr>
          <p:cNvSpPr txBox="1"/>
          <p:nvPr/>
        </p:nvSpPr>
        <p:spPr>
          <a:xfrm>
            <a:off x="424281" y="6179166"/>
            <a:ext cx="1409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* 1-2)</a:t>
            </a:r>
            <a:r>
              <a:rPr lang="ko-KR" altLang="en-US" sz="1600" b="1" dirty="0">
                <a:solidFill>
                  <a:srgbClr val="FF0000"/>
                </a:solidFill>
              </a:rPr>
              <a:t>예시</a:t>
            </a:r>
            <a:endParaRPr lang="en-US" altLang="ko-KR" sz="1600" b="1" dirty="0">
              <a:solidFill>
                <a:srgbClr val="FF0000"/>
              </a:solidFill>
            </a:endParaRPr>
          </a:p>
        </p:txBody>
      </p:sp>
      <p:sp>
        <p:nvSpPr>
          <p:cNvPr id="13" name="말풍선: 사각형 12">
            <a:extLst>
              <a:ext uri="{FF2B5EF4-FFF2-40B4-BE49-F238E27FC236}">
                <a16:creationId xmlns:a16="http://schemas.microsoft.com/office/drawing/2014/main" id="{7563F7F2-0580-4437-A0E8-F6EB75A46735}"/>
              </a:ext>
            </a:extLst>
          </p:cNvPr>
          <p:cNvSpPr/>
          <p:nvPr/>
        </p:nvSpPr>
        <p:spPr>
          <a:xfrm>
            <a:off x="-3390900" y="1660299"/>
            <a:ext cx="3387431" cy="1077217"/>
          </a:xfrm>
          <a:prstGeom prst="wedgeRectCallout">
            <a:avLst>
              <a:gd name="adj1" fmla="val 68254"/>
              <a:gd name="adj2" fmla="val -1639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문의게시판</a:t>
            </a:r>
            <a:r>
              <a:rPr lang="en-US" altLang="ko-KR"/>
              <a:t>-&gt;</a:t>
            </a:r>
            <a:r>
              <a:rPr lang="ko-KR" altLang="en-US"/>
              <a:t>게시판으로 수정</a:t>
            </a:r>
            <a:endParaRPr lang="en-US" altLang="ko-KR"/>
          </a:p>
          <a:p>
            <a:pPr algn="ctr"/>
            <a:r>
              <a:rPr lang="ko-KR" altLang="en-US"/>
              <a:t>취소규정</a:t>
            </a:r>
            <a:r>
              <a:rPr lang="en-US" altLang="ko-KR"/>
              <a:t>, FAQ</a:t>
            </a:r>
            <a:r>
              <a:rPr lang="ko-KR" altLang="en-US"/>
              <a:t>는 정리해서 월</a:t>
            </a:r>
            <a:r>
              <a:rPr lang="en-US" altLang="ko-KR"/>
              <a:t>~</a:t>
            </a:r>
            <a:r>
              <a:rPr lang="ko-KR" altLang="en-US"/>
              <a:t>화쯤 파일 보낼께요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D5C13C-0696-4FE4-A805-4E8F39968364}"/>
              </a:ext>
            </a:extLst>
          </p:cNvPr>
          <p:cNvSpPr txBox="1"/>
          <p:nvPr/>
        </p:nvSpPr>
        <p:spPr>
          <a:xfrm>
            <a:off x="-3755554" y="2862456"/>
            <a:ext cx="7531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>
                <a:solidFill>
                  <a:srgbClr val="FF0000"/>
                </a:solidFill>
              </a:rPr>
              <a:t>ㄴ공지사항</a:t>
            </a:r>
            <a:r>
              <a:rPr lang="en-US" altLang="ko-KR" sz="1800">
                <a:solidFill>
                  <a:srgbClr val="FF0000"/>
                </a:solidFill>
              </a:rPr>
              <a:t>(</a:t>
            </a:r>
            <a:r>
              <a:rPr lang="ko-KR" altLang="en-US" sz="1800">
                <a:solidFill>
                  <a:srgbClr val="FF0000"/>
                </a:solidFill>
              </a:rPr>
              <a:t>취소규정</a:t>
            </a:r>
            <a:r>
              <a:rPr lang="en-US" altLang="ko-KR" sz="1800">
                <a:solidFill>
                  <a:srgbClr val="FF0000"/>
                </a:solidFill>
              </a:rPr>
              <a:t>)/</a:t>
            </a:r>
            <a:r>
              <a:rPr lang="ko-KR" altLang="en-US" sz="1800">
                <a:solidFill>
                  <a:srgbClr val="FF0000"/>
                </a:solidFill>
              </a:rPr>
              <a:t>문의사항</a:t>
            </a:r>
            <a:r>
              <a:rPr lang="en-US" altLang="ko-KR" sz="1800">
                <a:solidFill>
                  <a:srgbClr val="FF0000"/>
                </a:solidFill>
              </a:rPr>
              <a:t>/FAQ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891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76C6BE-34A8-4CA4-9489-8E1022FA1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426128"/>
            <a:ext cx="11976100" cy="6647772"/>
          </a:xfrm>
        </p:spPr>
        <p:txBody>
          <a:bodyPr>
            <a:normAutofit fontScale="70000" lnSpcReduction="20000"/>
          </a:bodyPr>
          <a:lstStyle/>
          <a:p>
            <a:r>
              <a:rPr lang="en-US" altLang="ko-KR" b="1"/>
              <a:t>&lt;</a:t>
            </a:r>
            <a:r>
              <a:rPr lang="ko-KR" altLang="en-US" b="1"/>
              <a:t>필수 추가 항목</a:t>
            </a:r>
            <a:r>
              <a:rPr lang="en-US" altLang="ko-KR" b="1"/>
              <a:t>&gt;</a:t>
            </a:r>
          </a:p>
          <a:p>
            <a:pPr>
              <a:buFont typeface="+mj-lt"/>
              <a:buAutoNum type="arabicPeriod"/>
            </a:pPr>
            <a:r>
              <a:rPr lang="ko-KR" altLang="en-US" b="1"/>
              <a:t>예약 시스템</a:t>
            </a:r>
            <a:r>
              <a:rPr lang="ko-KR" altLang="en-US"/>
              <a:t> </a:t>
            </a:r>
            <a:r>
              <a:rPr lang="en-US" altLang="ko-KR"/>
              <a:t>— </a:t>
            </a:r>
            <a:r>
              <a:rPr lang="ko-KR" altLang="en-US"/>
              <a:t>문의 게시판만으로는 부족</a:t>
            </a:r>
            <a:r>
              <a:rPr lang="en-US" altLang="ko-KR"/>
              <a:t>. </a:t>
            </a:r>
            <a:r>
              <a:rPr lang="ko-KR" altLang="en-US"/>
              <a:t>날짜 선택 </a:t>
            </a:r>
            <a:r>
              <a:rPr lang="en-US" altLang="ko-KR"/>
              <a:t>+ </a:t>
            </a:r>
            <a:r>
              <a:rPr lang="ko-KR" altLang="en-US"/>
              <a:t>인원 입력 </a:t>
            </a:r>
            <a:r>
              <a:rPr lang="en-US" altLang="ko-KR"/>
              <a:t>+ </a:t>
            </a:r>
            <a:r>
              <a:rPr lang="ko-KR" altLang="en-US"/>
              <a:t>간단한 예약 폼</a:t>
            </a:r>
            <a:r>
              <a:rPr lang="en-US" altLang="ko-KR"/>
              <a:t>(</a:t>
            </a:r>
            <a:r>
              <a:rPr lang="ko-KR" altLang="en-US"/>
              <a:t>이름</a:t>
            </a:r>
            <a:r>
              <a:rPr lang="en-US" altLang="ko-KR"/>
              <a:t>·</a:t>
            </a:r>
            <a:r>
              <a:rPr lang="ko-KR" altLang="en-US"/>
              <a:t>연락처</a:t>
            </a:r>
            <a:r>
              <a:rPr lang="en-US" altLang="ko-KR"/>
              <a:t>·</a:t>
            </a:r>
            <a:r>
              <a:rPr lang="ko-KR" altLang="en-US"/>
              <a:t>탑승지 선택</a:t>
            </a:r>
            <a:r>
              <a:rPr lang="en-US" altLang="ko-KR"/>
              <a:t>) </a:t>
            </a:r>
            <a:r>
              <a:rPr lang="ko-KR" altLang="en-US"/>
              <a:t>최소 구현 필요</a:t>
            </a:r>
            <a:r>
              <a:rPr lang="en-US" altLang="ko-KR">
                <a:solidFill>
                  <a:srgbClr val="FF0000"/>
                </a:solidFill>
              </a:rPr>
              <a:t>-&gt;</a:t>
            </a:r>
            <a:r>
              <a:rPr lang="ko-KR" altLang="en-US">
                <a:solidFill>
                  <a:srgbClr val="FF0000"/>
                </a:solidFill>
              </a:rPr>
              <a:t>이 홈페이지에서는 예약 안받고</a:t>
            </a:r>
            <a:r>
              <a:rPr lang="en-US" altLang="ko-KR">
                <a:solidFill>
                  <a:srgbClr val="FF0000"/>
                </a:solidFill>
              </a:rPr>
              <a:t>, </a:t>
            </a:r>
            <a:r>
              <a:rPr lang="ko-KR" altLang="en-US">
                <a:solidFill>
                  <a:srgbClr val="FF0000"/>
                </a:solidFill>
              </a:rPr>
              <a:t>전화 예약만 안내</a:t>
            </a:r>
          </a:p>
          <a:p>
            <a:pPr>
              <a:buFont typeface="+mj-lt"/>
              <a:buAutoNum type="arabicPeriod"/>
            </a:pPr>
            <a:r>
              <a:rPr lang="ko-KR" altLang="en-US" b="1"/>
              <a:t>시간대별 여행일정</a:t>
            </a:r>
            <a:r>
              <a:rPr lang="ko-KR" altLang="en-US"/>
              <a:t> </a:t>
            </a:r>
            <a:r>
              <a:rPr lang="en-US" altLang="ko-KR"/>
              <a:t>— </a:t>
            </a:r>
            <a:r>
              <a:rPr lang="ko-KR" altLang="en-US"/>
              <a:t>미팅에서도 자료 요청된 항목</a:t>
            </a:r>
            <a:r>
              <a:rPr lang="en-US" altLang="ko-KR"/>
              <a:t>. </a:t>
            </a:r>
            <a:r>
              <a:rPr lang="ko-KR" altLang="en-US"/>
              <a:t>타임라인 형식으로 시각화하면 사용자 이해도 높음</a:t>
            </a:r>
            <a:r>
              <a:rPr lang="en-US" altLang="ko-KR">
                <a:solidFill>
                  <a:srgbClr val="FF0000"/>
                </a:solidFill>
              </a:rPr>
              <a:t>-&gt;</a:t>
            </a:r>
            <a:r>
              <a:rPr lang="ko-KR" altLang="en-US">
                <a:solidFill>
                  <a:srgbClr val="FF0000"/>
                </a:solidFill>
              </a:rPr>
              <a:t>오른쪽 표 참고</a:t>
            </a:r>
          </a:p>
          <a:p>
            <a:pPr>
              <a:buFont typeface="+mj-lt"/>
              <a:buAutoNum type="arabicPeriod"/>
            </a:pPr>
            <a:r>
              <a:rPr lang="ko-KR" altLang="en-US" b="1"/>
              <a:t>요금표</a:t>
            </a:r>
            <a:r>
              <a:rPr lang="ko-KR" altLang="en-US"/>
              <a:t> </a:t>
            </a:r>
            <a:r>
              <a:rPr lang="en-US" altLang="ko-KR"/>
              <a:t>— </a:t>
            </a:r>
            <a:r>
              <a:rPr lang="ko-KR" altLang="en-US"/>
              <a:t>성인</a:t>
            </a:r>
            <a:r>
              <a:rPr lang="en-US" altLang="ko-KR"/>
              <a:t>/</a:t>
            </a:r>
            <a:r>
              <a:rPr lang="ko-KR" altLang="en-US"/>
              <a:t>유아 금액 확정 후 명확한 가격 테이블 필요</a:t>
            </a:r>
            <a:r>
              <a:rPr lang="en-US" altLang="ko-KR"/>
              <a:t>. </a:t>
            </a:r>
            <a:r>
              <a:rPr lang="ko-KR" altLang="en-US"/>
              <a:t>현재 </a:t>
            </a:r>
            <a:r>
              <a:rPr lang="en-US" altLang="ko-KR"/>
              <a:t>"000</a:t>
            </a:r>
            <a:r>
              <a:rPr lang="ko-KR" altLang="en-US"/>
              <a:t>엔</a:t>
            </a:r>
            <a:r>
              <a:rPr lang="en-US" altLang="ko-KR"/>
              <a:t>"</a:t>
            </a:r>
            <a:r>
              <a:rPr lang="ko-KR" altLang="en-US"/>
              <a:t>은 임시 상태</a:t>
            </a:r>
            <a:r>
              <a:rPr lang="en-US" altLang="ko-KR">
                <a:solidFill>
                  <a:srgbClr val="FF0000"/>
                </a:solidFill>
              </a:rPr>
              <a:t>-&gt;</a:t>
            </a:r>
            <a:r>
              <a:rPr lang="ko-KR" altLang="en-US">
                <a:solidFill>
                  <a:srgbClr val="FF0000"/>
                </a:solidFill>
              </a:rPr>
              <a:t>앞 페이지에 기입</a:t>
            </a:r>
          </a:p>
          <a:p>
            <a:pPr>
              <a:buFont typeface="+mj-lt"/>
              <a:buAutoNum type="arabicPeriod"/>
            </a:pPr>
            <a:r>
              <a:rPr lang="ko-KR" altLang="en-US" b="1"/>
              <a:t>다국어 지원 여부 결정</a:t>
            </a:r>
            <a:r>
              <a:rPr lang="ko-KR" altLang="en-US"/>
              <a:t> </a:t>
            </a:r>
            <a:r>
              <a:rPr lang="en-US" altLang="ko-KR"/>
              <a:t>— </a:t>
            </a:r>
            <a:r>
              <a:rPr lang="ko-KR" altLang="en-US"/>
              <a:t>한국인 대상이라면 한국어 단일도 가능하나</a:t>
            </a:r>
            <a:r>
              <a:rPr lang="en-US" altLang="ko-KR"/>
              <a:t>, </a:t>
            </a:r>
            <a:r>
              <a:rPr lang="ko-KR" altLang="en-US"/>
              <a:t>일본 현지 연결 고려 시 일본어 버전 필요성 검토</a:t>
            </a:r>
            <a:r>
              <a:rPr lang="en-US" altLang="ko-KR">
                <a:solidFill>
                  <a:srgbClr val="FF0000"/>
                </a:solidFill>
              </a:rPr>
              <a:t>-&gt;</a:t>
            </a:r>
            <a:r>
              <a:rPr lang="ko-KR" altLang="en-US">
                <a:solidFill>
                  <a:srgbClr val="FF0000"/>
                </a:solidFill>
              </a:rPr>
              <a:t>대만 버전 추후 추가 예정</a:t>
            </a:r>
          </a:p>
          <a:p>
            <a:pPr>
              <a:buFont typeface="+mj-lt"/>
              <a:buAutoNum type="arabicPeriod"/>
            </a:pPr>
            <a:r>
              <a:rPr lang="ko-KR" altLang="en-US" b="1"/>
              <a:t>운행 달력 </a:t>
            </a:r>
            <a:r>
              <a:rPr lang="en-US" altLang="ko-KR" b="1"/>
              <a:t>/ </a:t>
            </a:r>
            <a:r>
              <a:rPr lang="ko-KR" altLang="en-US" b="1"/>
              <a:t>운행 여부 확인</a:t>
            </a:r>
            <a:r>
              <a:rPr lang="ko-KR" altLang="en-US"/>
              <a:t> </a:t>
            </a:r>
            <a:r>
              <a:rPr lang="en-US" altLang="ko-KR"/>
              <a:t>— </a:t>
            </a:r>
            <a:r>
              <a:rPr lang="ko-KR" altLang="en-US"/>
              <a:t>매주 토</a:t>
            </a:r>
            <a:r>
              <a:rPr lang="en-US" altLang="ko-KR"/>
              <a:t>·</a:t>
            </a:r>
            <a:r>
              <a:rPr lang="ko-KR" altLang="en-US"/>
              <a:t>일 </a:t>
            </a:r>
            <a:r>
              <a:rPr lang="en-US" altLang="ko-KR"/>
              <a:t>+ </a:t>
            </a:r>
            <a:r>
              <a:rPr lang="ko-KR" altLang="en-US"/>
              <a:t>한국 공휴일 운행이므로</a:t>
            </a:r>
            <a:r>
              <a:rPr lang="en-US" altLang="ko-KR"/>
              <a:t>, </a:t>
            </a:r>
            <a:r>
              <a:rPr lang="ko-KR" altLang="en-US"/>
              <a:t>월별 달력으로 운행일 한눈에 표시하면 </a:t>
            </a:r>
            <a:r>
              <a:rPr lang="en-US" altLang="ko-KR"/>
              <a:t>UX </a:t>
            </a:r>
            <a:r>
              <a:rPr lang="ko-KR" altLang="en-US"/>
              <a:t>개선에 효과적 </a:t>
            </a:r>
            <a:r>
              <a:rPr lang="en-US" altLang="ko-KR"/>
              <a:t>-&gt;</a:t>
            </a:r>
            <a:r>
              <a:rPr lang="ko-KR" altLang="en-US">
                <a:solidFill>
                  <a:srgbClr val="FF0000"/>
                </a:solidFill>
              </a:rPr>
              <a:t>토일</a:t>
            </a:r>
            <a:r>
              <a:rPr lang="en-US" altLang="ko-KR">
                <a:solidFill>
                  <a:srgbClr val="FF0000"/>
                </a:solidFill>
              </a:rPr>
              <a:t>+9/25, 10/9, 12/25, 1/1, 2/8</a:t>
            </a:r>
            <a:endParaRPr lang="ko-KR" altLang="en-US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endParaRPr lang="ko-KR" altLang="en-US"/>
          </a:p>
          <a:p>
            <a:r>
              <a:rPr lang="en-US" altLang="ko-KR" b="1"/>
              <a:t>&lt;UX/</a:t>
            </a:r>
            <a:r>
              <a:rPr lang="ko-KR" altLang="en-US" b="1"/>
              <a:t>콘텐츠 개선 제안</a:t>
            </a:r>
            <a:r>
              <a:rPr lang="en-US" altLang="ko-KR" b="1"/>
              <a:t>&gt;</a:t>
            </a:r>
          </a:p>
          <a:p>
            <a:pPr>
              <a:buFont typeface="+mj-lt"/>
              <a:buAutoNum type="arabicPeriod"/>
            </a:pPr>
            <a:r>
              <a:rPr lang="en-US" altLang="ko-KR" b="1"/>
              <a:t>FAQ </a:t>
            </a:r>
            <a:r>
              <a:rPr lang="ko-KR" altLang="en-US" b="1"/>
              <a:t>섹션</a:t>
            </a:r>
            <a:r>
              <a:rPr lang="ko-KR" altLang="en-US"/>
              <a:t> </a:t>
            </a:r>
            <a:r>
              <a:rPr lang="en-US" altLang="ko-KR"/>
              <a:t>— </a:t>
            </a:r>
            <a:r>
              <a:rPr lang="ko-KR" altLang="en-US"/>
              <a:t>예약 취소 정책</a:t>
            </a:r>
            <a:r>
              <a:rPr lang="en-US" altLang="ko-KR"/>
              <a:t>, </a:t>
            </a:r>
            <a:r>
              <a:rPr lang="ko-KR" altLang="en-US"/>
              <a:t>집합 장소 안내</a:t>
            </a:r>
            <a:r>
              <a:rPr lang="en-US" altLang="ko-KR"/>
              <a:t>, </a:t>
            </a:r>
            <a:r>
              <a:rPr lang="ko-KR" altLang="en-US"/>
              <a:t>소요시간</a:t>
            </a:r>
            <a:r>
              <a:rPr lang="en-US" altLang="ko-KR"/>
              <a:t>, </a:t>
            </a:r>
            <a:r>
              <a:rPr lang="ko-KR" altLang="en-US"/>
              <a:t>우천 시 운행 여부 등 반복 문의 사전 차단</a:t>
            </a:r>
            <a:r>
              <a:rPr lang="en-US" altLang="ko-KR">
                <a:solidFill>
                  <a:srgbClr val="FF0000"/>
                </a:solidFill>
              </a:rPr>
              <a:t>-&gt;</a:t>
            </a:r>
            <a:r>
              <a:rPr lang="ko-KR" altLang="en-US">
                <a:solidFill>
                  <a:srgbClr val="FF0000"/>
                </a:solidFill>
              </a:rPr>
              <a:t>정리해서 보낼께요</a:t>
            </a:r>
          </a:p>
          <a:p>
            <a:pPr>
              <a:buFont typeface="+mj-lt"/>
              <a:buAutoNum type="arabicPeriod"/>
            </a:pPr>
            <a:r>
              <a:rPr lang="en-US" altLang="ko-KR" b="1"/>
              <a:t>SNS/</a:t>
            </a:r>
            <a:r>
              <a:rPr lang="ko-KR" altLang="en-US" b="1"/>
              <a:t>후기 연동</a:t>
            </a:r>
            <a:r>
              <a:rPr lang="ko-KR" altLang="en-US"/>
              <a:t> </a:t>
            </a:r>
            <a:r>
              <a:rPr lang="en-US" altLang="ko-KR"/>
              <a:t>— </a:t>
            </a:r>
            <a:r>
              <a:rPr lang="ko-KR" altLang="en-US"/>
              <a:t>인스타그램 피드나 구글 리뷰 임베드로 신뢰도 강화 </a:t>
            </a:r>
            <a:r>
              <a:rPr lang="en-US" altLang="ko-KR">
                <a:solidFill>
                  <a:srgbClr val="FF0000"/>
                </a:solidFill>
              </a:rPr>
              <a:t>-X</a:t>
            </a:r>
            <a:endParaRPr lang="ko-KR" altLang="en-US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ko-KR" altLang="en-US" b="1"/>
              <a:t>모바일 최적화 우선</a:t>
            </a:r>
            <a:r>
              <a:rPr lang="ko-KR" altLang="en-US"/>
              <a:t> </a:t>
            </a:r>
            <a:r>
              <a:rPr lang="en-US" altLang="ko-KR"/>
              <a:t>— </a:t>
            </a:r>
            <a:r>
              <a:rPr lang="ko-KR" altLang="en-US"/>
              <a:t>한국 여행자 특성상 모바일로 검색</a:t>
            </a:r>
            <a:r>
              <a:rPr lang="en-US" altLang="ko-KR"/>
              <a:t>·</a:t>
            </a:r>
            <a:r>
              <a:rPr lang="ko-KR" altLang="en-US"/>
              <a:t>예약하는 비율이 높음</a:t>
            </a:r>
            <a:r>
              <a:rPr lang="en-US" altLang="ko-KR"/>
              <a:t>. </a:t>
            </a:r>
            <a:r>
              <a:rPr lang="ko-KR" altLang="en-US"/>
              <a:t>모바일 퍼스트 설계 필수 </a:t>
            </a:r>
            <a:r>
              <a:rPr lang="en-US" altLang="ko-KR">
                <a:solidFill>
                  <a:srgbClr val="FF0000"/>
                </a:solidFill>
              </a:rPr>
              <a:t>-&gt;PC</a:t>
            </a:r>
            <a:r>
              <a:rPr lang="ko-KR" altLang="en-US">
                <a:solidFill>
                  <a:srgbClr val="FF0000"/>
                </a:solidFill>
              </a:rPr>
              <a:t>버전 우선</a:t>
            </a:r>
            <a:r>
              <a:rPr lang="en-US" altLang="ko-KR">
                <a:solidFill>
                  <a:srgbClr val="FF0000"/>
                </a:solidFill>
              </a:rPr>
              <a:t>+</a:t>
            </a:r>
            <a:r>
              <a:rPr lang="ko-KR" altLang="en-US">
                <a:solidFill>
                  <a:srgbClr val="FF0000"/>
                </a:solidFill>
              </a:rPr>
              <a:t>모바일 버전도 동시 오픈</a:t>
            </a:r>
          </a:p>
          <a:p>
            <a:pPr>
              <a:buFont typeface="+mj-lt"/>
              <a:buAutoNum type="arabicPeriod"/>
            </a:pPr>
            <a:r>
              <a:rPr lang="ko-KR" altLang="en-US" b="1"/>
              <a:t>부관훼리 연계 안내</a:t>
            </a:r>
            <a:r>
              <a:rPr lang="ko-KR" altLang="en-US"/>
              <a:t> </a:t>
            </a:r>
            <a:r>
              <a:rPr lang="en-US" altLang="ko-KR"/>
              <a:t>— </a:t>
            </a:r>
            <a:r>
              <a:rPr lang="ko-KR" altLang="en-US"/>
              <a:t>링크 연결에서 한 단계 더 나아가</a:t>
            </a:r>
            <a:r>
              <a:rPr lang="en-US" altLang="ko-KR"/>
              <a:t>, </a:t>
            </a:r>
            <a:r>
              <a:rPr lang="ko-KR" altLang="en-US"/>
              <a:t>부관훼리 이용 고객 대상 원데이버스 패키지 혜택 등 교차 안내 고려</a:t>
            </a:r>
            <a:r>
              <a:rPr lang="en-US" altLang="ko-KR">
                <a:solidFill>
                  <a:srgbClr val="FF0000"/>
                </a:solidFill>
              </a:rPr>
              <a:t>-</a:t>
            </a:r>
            <a:r>
              <a:rPr lang="ko-KR" altLang="en-US">
                <a:solidFill>
                  <a:srgbClr val="FF0000"/>
                </a:solidFill>
              </a:rPr>
              <a:t> </a:t>
            </a:r>
            <a:r>
              <a:rPr lang="en-US" altLang="ko-KR">
                <a:solidFill>
                  <a:srgbClr val="FF0000"/>
                </a:solidFill>
              </a:rPr>
              <a:t>X</a:t>
            </a:r>
            <a:endParaRPr lang="ko-KR" altLang="en-US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altLang="ko-KR" b="1"/>
              <a:t>SEO </a:t>
            </a:r>
            <a:r>
              <a:rPr lang="ko-KR" altLang="en-US" b="1"/>
              <a:t>기본 세팅</a:t>
            </a:r>
            <a:r>
              <a:rPr lang="ko-KR" altLang="en-US"/>
              <a:t> </a:t>
            </a:r>
            <a:r>
              <a:rPr lang="en-US" altLang="ko-KR"/>
              <a:t>— ＂</a:t>
            </a:r>
            <a:r>
              <a:rPr lang="ko-KR" altLang="en-US"/>
              <a:t>야마구치 당일치기</a:t>
            </a:r>
            <a:r>
              <a:rPr lang="en-US" altLang="ko-KR"/>
              <a:t>＂, ＂</a:t>
            </a:r>
            <a:r>
              <a:rPr lang="ko-KR" altLang="en-US"/>
              <a:t>시모노세키 버스 투어</a:t>
            </a:r>
            <a:r>
              <a:rPr lang="en-US" altLang="ko-KR"/>
              <a:t>＂ </a:t>
            </a:r>
            <a:r>
              <a:rPr lang="ko-KR" altLang="en-US"/>
              <a:t>등 한국어 검색 유입을 위한 메타태그</a:t>
            </a:r>
            <a:r>
              <a:rPr lang="en-US" altLang="ko-KR"/>
              <a:t>·</a:t>
            </a:r>
            <a:r>
              <a:rPr lang="ko-KR" altLang="en-US"/>
              <a:t>키워드 설정 </a:t>
            </a:r>
            <a:r>
              <a:rPr lang="en-US" altLang="ko-KR"/>
              <a:t>–</a:t>
            </a:r>
            <a:r>
              <a:rPr lang="ko-KR" altLang="en-US">
                <a:solidFill>
                  <a:srgbClr val="FF0000"/>
                </a:solidFill>
              </a:rPr>
              <a:t>야마구치버스투어</a:t>
            </a:r>
            <a:r>
              <a:rPr lang="en-US" altLang="ko-KR">
                <a:solidFill>
                  <a:srgbClr val="FF0000"/>
                </a:solidFill>
              </a:rPr>
              <a:t>, </a:t>
            </a:r>
            <a:r>
              <a:rPr lang="ko-KR" altLang="en-US">
                <a:solidFill>
                  <a:srgbClr val="FF0000"/>
                </a:solidFill>
              </a:rPr>
              <a:t>야마구치 당일치기</a:t>
            </a:r>
            <a:r>
              <a:rPr lang="en-US" altLang="ko-KR">
                <a:solidFill>
                  <a:srgbClr val="FF0000"/>
                </a:solidFill>
              </a:rPr>
              <a:t>, </a:t>
            </a:r>
            <a:r>
              <a:rPr lang="ko-KR" altLang="en-US">
                <a:solidFill>
                  <a:srgbClr val="FF0000"/>
                </a:solidFill>
              </a:rPr>
              <a:t>시모노세키 버스투어</a:t>
            </a:r>
            <a:r>
              <a:rPr lang="en-US" altLang="ko-KR">
                <a:solidFill>
                  <a:srgbClr val="FF0000"/>
                </a:solidFill>
              </a:rPr>
              <a:t>, </a:t>
            </a:r>
            <a:r>
              <a:rPr lang="ko-KR" altLang="en-US">
                <a:solidFill>
                  <a:srgbClr val="FF0000"/>
                </a:solidFill>
              </a:rPr>
              <a:t>부관훼리 버스투어</a:t>
            </a:r>
            <a:endParaRPr lang="en-US" altLang="ko-KR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6A198D5-105F-4544-B161-87B4923F0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492633"/>
              </p:ext>
            </p:extLst>
          </p:nvPr>
        </p:nvGraphicFramePr>
        <p:xfrm>
          <a:off x="12362201" y="1097094"/>
          <a:ext cx="6971609" cy="7416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13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1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2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ja-JP" altLang="en-US" sz="1000" kern="1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小倉駅</a:t>
                      </a:r>
                      <a:endParaRPr lang="ko-KR" sz="1000" b="1" kern="100" dirty="0">
                        <a:latin typeface="Meiryo UI" panose="020B0604030504040204" pitchFamily="34" charset="-128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cs typeface="+mn-cs"/>
                        </a:rPr>
                        <a:t>下関駅</a:t>
                      </a:r>
                      <a:endParaRPr lang="ko-KR" altLang="en-US" sz="1000" b="1" kern="100" dirty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cs typeface="+mn-cs"/>
                        </a:rPr>
                        <a:t>角島大橋</a:t>
                      </a:r>
                      <a:endParaRPr lang="ko-KR" altLang="ko-KR" sz="1000" b="1" kern="100" dirty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cs typeface="+mn-cs"/>
                        </a:rPr>
                        <a:t>元乃隅神社</a:t>
                      </a:r>
                      <a:endParaRPr lang="ko-KR" altLang="ko-KR" sz="1000" b="1" kern="100" dirty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ja-JP" altLang="en-US" sz="1000" b="1" kern="100" dirty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センザキッチン</a:t>
                      </a:r>
                      <a:endParaRPr lang="en-US" altLang="ja-JP" sz="1000" b="1" kern="100" dirty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Meiryo UI" panose="020B0604030504040204" pitchFamily="34" charset="-128"/>
                        <a:cs typeface="+mn-cs"/>
                      </a:endParaRPr>
                    </a:p>
                    <a:p>
                      <a:pPr marL="0" algn="ctr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b="1" kern="10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（</a:t>
                      </a:r>
                      <a:r>
                        <a:rPr lang="ja-JP" altLang="en-US" sz="1000" b="1" kern="10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自</a:t>
                      </a:r>
                      <a:r>
                        <a:rPr lang="ja-JP" altLang="en-US" sz="1000" b="1" kern="100" dirty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由</a:t>
                      </a:r>
                      <a:r>
                        <a:rPr lang="ja-JP" altLang="en-US" sz="1000" b="1" kern="10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昼食・買い物</a:t>
                      </a:r>
                      <a:r>
                        <a:rPr lang="ko-KR" altLang="en-US" sz="1000" b="1" kern="10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）</a:t>
                      </a:r>
                      <a:endParaRPr lang="ko-KR" altLang="ko-KR" sz="1000" b="1" kern="100" dirty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08:00</a:t>
                      </a:r>
                      <a:endParaRPr lang="ko-KR" sz="1000" b="0" kern="100" dirty="0">
                        <a:latin typeface="Meiryo UI" panose="020B0604030504040204" pitchFamily="34" charset="-128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09:00</a:t>
                      </a:r>
                      <a:endParaRPr lang="ko-KR" sz="1000" b="0" kern="100" dirty="0">
                        <a:latin typeface="Meiryo UI" panose="020B0604030504040204" pitchFamily="34" charset="-128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10:15-10:45</a:t>
                      </a:r>
                      <a:endParaRPr lang="ko-KR" sz="1000" b="0" kern="100" dirty="0">
                        <a:latin typeface="Meiryo UI" panose="020B0604030504040204" pitchFamily="34" charset="-128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11:20-12:00</a:t>
                      </a:r>
                      <a:endParaRPr lang="ko-KR" sz="1000" b="0" kern="100" dirty="0">
                        <a:latin typeface="Meiryo UI" panose="020B0604030504040204" pitchFamily="34" charset="-128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12:30-13:40</a:t>
                      </a:r>
                      <a:endParaRPr lang="ko-KR" sz="1000" b="0" kern="100" dirty="0">
                        <a:latin typeface="Meiryo UI" panose="020B0604030504040204" pitchFamily="34" charset="-128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849EA8B-7DEA-498B-87C8-91E3BDA80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536662"/>
              </p:ext>
            </p:extLst>
          </p:nvPr>
        </p:nvGraphicFramePr>
        <p:xfrm>
          <a:off x="12362198" y="1985784"/>
          <a:ext cx="6971608" cy="7416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351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9481">
                  <a:extLst>
                    <a:ext uri="{9D8B030D-6E8A-4147-A177-3AD203B41FA5}">
                      <a16:colId xmlns:a16="http://schemas.microsoft.com/office/drawing/2014/main" val="3484284474"/>
                    </a:ext>
                  </a:extLst>
                </a:gridCol>
                <a:gridCol w="1689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75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b="1" kern="10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cs typeface="+mn-cs"/>
                        </a:rPr>
                        <a:t>秋吉台</a:t>
                      </a:r>
                      <a:endParaRPr lang="ko-KR" altLang="en-US" sz="1000" b="1" kern="100" dirty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spcAft>
                          <a:spcPts val="0"/>
                        </a:spcAft>
                      </a:pPr>
                      <a:r>
                        <a:rPr lang="ja-JP" altLang="en-US" sz="1000" b="1" kern="10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別府弁天池</a:t>
                      </a:r>
                      <a:endParaRPr lang="en-US" altLang="ja-JP" sz="1000" b="1" kern="10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Meiryo UI" panose="020B0604030504040204" pitchFamily="34" charset="-128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spcAft>
                          <a:spcPts val="0"/>
                        </a:spcAft>
                      </a:pPr>
                      <a:r>
                        <a:rPr lang="ja-JP" altLang="en-US" sz="1000" b="1" kern="10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シーモール</a:t>
                      </a:r>
                      <a:endParaRPr lang="en-US" altLang="ja-JP" sz="1000" b="1" kern="10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Meiryo UI" panose="020B0604030504040204" pitchFamily="34" charset="-128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b="1" kern="10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小倉駅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14:20-14:50</a:t>
                      </a:r>
                      <a:endParaRPr lang="ko-KR" sz="1000" b="0" kern="100" dirty="0">
                        <a:latin typeface="Meiryo UI" panose="020B0604030504040204" pitchFamily="34" charset="-128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ja-JP" sz="1000" b="0" kern="100"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imes New Roman"/>
                        </a:rPr>
                        <a:t>15:10-15:40</a:t>
                      </a:r>
                      <a:endParaRPr lang="ko-KR" sz="1000" b="0" kern="100" dirty="0">
                        <a:latin typeface="Meiryo UI" panose="020B0604030504040204" pitchFamily="34" charset="-128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1000" b="0" kern="100"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imes New Roman"/>
                        </a:rPr>
                        <a:t>16:40</a:t>
                      </a:r>
                      <a:endParaRPr lang="ko-KR" sz="1000" b="0" kern="100" dirty="0">
                        <a:latin typeface="Meiryo UI" panose="020B0604030504040204" pitchFamily="34" charset="-128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1000" b="0" kern="100"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imes New Roman"/>
                        </a:rPr>
                        <a:t>17:40</a:t>
                      </a:r>
                      <a:endParaRPr lang="ko-KR" sz="1000" b="0" kern="100" dirty="0">
                        <a:latin typeface="Meiryo UI" panose="020B0604030504040204" pitchFamily="34" charset="-128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002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631</Words>
  <Application>Microsoft Office PowerPoint</Application>
  <PresentationFormat>와이드스크린</PresentationFormat>
  <Paragraphs>112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Meiryo UI</vt:lpstr>
      <vt:lpstr>맑은 고딕</vt:lpstr>
      <vt:lpstr>Arial</vt:lpstr>
      <vt:lpstr>Office 테마</vt:lpstr>
      <vt:lpstr>야마구치 원데이버스 홈페이지 진행미팅 정리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야마구치 원데이버스 홈페이지 진행미팅 정리</dc:title>
  <dc:creator>JIYEON SON</dc:creator>
  <cp:lastModifiedBy>SSY</cp:lastModifiedBy>
  <cp:revision>8</cp:revision>
  <dcterms:created xsi:type="dcterms:W3CDTF">2026-06-25T13:30:43Z</dcterms:created>
  <dcterms:modified xsi:type="dcterms:W3CDTF">2026-06-26T06:07:29Z</dcterms:modified>
</cp:coreProperties>
</file>